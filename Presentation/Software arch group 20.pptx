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BFADC8-1FE7-4F0D-9103-3D3F7F59D1B8}">
  <a:tblStyle styleId="{BCBFADC8-1FE7-4F0D-9103-3D3F7F59D1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B542F2F-05F9-4581-8870-7AC3738E764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989dbceb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989dbceb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8df8955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8df8955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 u="sng">
                <a:solidFill>
                  <a:schemeClr val="dk1"/>
                </a:solidFill>
              </a:rPr>
              <a:t>First 4 points:</a:t>
            </a:r>
            <a:endParaRPr i="1" u="sng">
              <a:solidFill>
                <a:schemeClr val="dk1"/>
              </a:solidFill>
            </a:endParaRPr>
          </a:p>
          <a:p>
            <a:pPr indent="0" lvl="0" marL="0" rtl="0" algn="l">
              <a:lnSpc>
                <a:spcPct val="115000"/>
              </a:lnSpc>
              <a:spcBef>
                <a:spcPts val="1200"/>
              </a:spcBef>
              <a:spcAft>
                <a:spcPts val="0"/>
              </a:spcAft>
              <a:buNone/>
            </a:pPr>
            <a:r>
              <a:rPr i="1" lang="en">
                <a:solidFill>
                  <a:schemeClr val="dk1"/>
                </a:solidFill>
              </a:rPr>
              <a:t>Modern microservice systems use a lot of design patterns — things like gateways, CQRS, offloading — because we assume they make systems faster and more scalable.</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But the reality is: we rarely measure that impact. Most teams just trust the pattern, and performance issues are usually found at runtime, when the system is already deployed and expensive to fix.</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And let’s be honest — most of us have applied a pattern simply because it’s considered a ‘best practice,’ right? But does it really help performance? Or can it actually make things worse?</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That’s exactly the motivation behind this paper. Performance matters, but we don’t actually know how each pattern behaves under different workloads. There was no formal or quantitative way (UNTIL NOW!!) to predict that.</a:t>
            </a:r>
            <a:endParaRPr i="1">
              <a:solidFill>
                <a:schemeClr val="dk1"/>
              </a:solidFill>
            </a:endParaRPr>
          </a:p>
          <a:p>
            <a:pPr indent="0" lvl="0" marL="0" rtl="0" algn="l">
              <a:lnSpc>
                <a:spcPct val="115000"/>
              </a:lnSpc>
              <a:spcBef>
                <a:spcPts val="1200"/>
              </a:spcBef>
              <a:spcAft>
                <a:spcPts val="0"/>
              </a:spcAft>
              <a:buNone/>
            </a:pPr>
            <a:r>
              <a:rPr i="1" lang="en" u="sng">
                <a:solidFill>
                  <a:schemeClr val="dk1"/>
                </a:solidFill>
              </a:rPr>
              <a:t>Next 2 points:</a:t>
            </a:r>
            <a:endParaRPr i="1" u="sng">
              <a:solidFill>
                <a:schemeClr val="dk1"/>
              </a:solidFill>
            </a:endParaRPr>
          </a:p>
          <a:p>
            <a:pPr indent="0" lvl="0" marL="0" rtl="0" algn="l">
              <a:lnSpc>
                <a:spcPct val="115000"/>
              </a:lnSpc>
              <a:spcBef>
                <a:spcPts val="1200"/>
              </a:spcBef>
              <a:spcAft>
                <a:spcPts val="0"/>
              </a:spcAft>
              <a:buNone/>
            </a:pPr>
            <a:r>
              <a:rPr i="1" lang="en">
                <a:solidFill>
                  <a:schemeClr val="dk1"/>
                </a:solidFill>
              </a:rPr>
              <a:t>“So what does this paper actually do? Two things, very simple: it models these patterns mathematically, and then stress-tests them under different workloads.</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First, they build mathematical performance models for seven widely-used microservice design patterns. Instead of relying on intuition or best practices, they translate each pattern into a formal queueing network model.</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Second, they simulate different types of workloads — fast requests, slow requests, mixed traffic — and measure things like response time and resource usage. The idea is to see whether each pattern actually improves performance, becomes a bottleneck, or maybe even hurts the system.</a:t>
            </a:r>
            <a:endParaRPr i="1">
              <a:solidFill>
                <a:schemeClr val="dk1"/>
              </a:solidFill>
            </a:endParaRPr>
          </a:p>
          <a:p>
            <a:pPr indent="0" lvl="0" marL="0" rtl="0" algn="l">
              <a:lnSpc>
                <a:spcPct val="115000"/>
              </a:lnSpc>
              <a:spcBef>
                <a:spcPts val="1200"/>
              </a:spcBef>
              <a:spcAft>
                <a:spcPts val="0"/>
              </a:spcAft>
              <a:buNone/>
            </a:pPr>
            <a:r>
              <a:rPr i="1" lang="en" u="sng">
                <a:solidFill>
                  <a:schemeClr val="dk1"/>
                </a:solidFill>
              </a:rPr>
              <a:t>I know, you all must be thinking the same: Finally something that quantifies design patterns!!!!!</a:t>
            </a:r>
            <a:endParaRPr i="1" u="sng">
              <a:solidFill>
                <a:schemeClr val="dk1"/>
              </a:solidFill>
            </a:endParaRPr>
          </a:p>
          <a:p>
            <a:pPr indent="0" lvl="0" marL="0" rtl="0" algn="l">
              <a:lnSpc>
                <a:spcPct val="115000"/>
              </a:lnSpc>
              <a:spcBef>
                <a:spcPts val="1200"/>
              </a:spcBef>
              <a:spcAft>
                <a:spcPts val="1200"/>
              </a:spcAft>
              <a:buNone/>
            </a:pPr>
            <a:r>
              <a:t/>
            </a:r>
            <a:endParaRPr i="1">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8df89550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8df89550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i="1" lang="en">
                <a:solidFill>
                  <a:schemeClr val="dk1"/>
                </a:solidFill>
              </a:rPr>
              <a:t>“Now that we know the motivation, the authors turn that into two research objectives:</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First, they build performance models for seven commonly used design patterns.</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Second, they analyze how performance changes when workloads are mixed — because real systems never get only one type of request.”</a:t>
            </a:r>
            <a:endParaRPr i="1">
              <a:solidFill>
                <a:schemeClr val="dk1"/>
              </a:solidFill>
            </a:endParaRPr>
          </a:p>
          <a:p>
            <a:pPr indent="0" lvl="0" marL="0" rtl="0" algn="l">
              <a:lnSpc>
                <a:spcPct val="115000"/>
              </a:lnSpc>
              <a:spcBef>
                <a:spcPts val="1200"/>
              </a:spcBef>
              <a:spcAft>
                <a:spcPts val="0"/>
              </a:spcAft>
              <a:buNone/>
            </a:pPr>
            <a:r>
              <a:rPr i="1" lang="en">
                <a:solidFill>
                  <a:schemeClr val="dk1"/>
                </a:solidFill>
              </a:rPr>
              <a:t>“So they formalize this into two research questions:</a:t>
            </a:r>
            <a:endParaRPr i="1">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a:solidFill>
                  <a:schemeClr val="dk1"/>
                </a:solidFill>
              </a:rPr>
              <a:t>RQ1: Can these microservice design patterns be modeled using queueing networks?</a:t>
            </a:r>
            <a:br>
              <a:rPr i="1" lang="en">
                <a:solidFill>
                  <a:schemeClr val="dk1"/>
                </a:solidFill>
              </a:rPr>
            </a:br>
            <a:br>
              <a:rPr i="1" lang="en">
                <a:solidFill>
                  <a:schemeClr val="dk1"/>
                </a:solidFill>
              </a:rPr>
            </a:br>
            <a:r>
              <a:rPr lang="en">
                <a:solidFill>
                  <a:schemeClr val="dk1"/>
                </a:solidFill>
              </a:rPr>
              <a:t> </a:t>
            </a:r>
            <a:r>
              <a:rPr i="1" lang="en">
                <a:solidFill>
                  <a:schemeClr val="dk1"/>
                </a:solidFill>
              </a:rPr>
              <a:t>The answer is yes — all seven patterns can be modeled this way, although one of them needed a hybrid model because it required synchronization, but we’ll talk about that shortly after.</a:t>
            </a:r>
            <a:br>
              <a:rPr i="1" lang="en">
                <a:solidFill>
                  <a:schemeClr val="dk1"/>
                </a:solidFill>
              </a:rPr>
            </a:br>
            <a:endParaRPr i="1">
              <a:solidFill>
                <a:schemeClr val="dk1"/>
              </a:solidFill>
            </a:endParaRPr>
          </a:p>
          <a:p>
            <a:pPr indent="-298450" lvl="0" marL="457200" rtl="0" algn="l">
              <a:lnSpc>
                <a:spcPct val="115000"/>
              </a:lnSpc>
              <a:spcBef>
                <a:spcPts val="0"/>
              </a:spcBef>
              <a:spcAft>
                <a:spcPts val="0"/>
              </a:spcAft>
              <a:buClr>
                <a:schemeClr val="dk1"/>
              </a:buClr>
              <a:buSzPts val="1100"/>
              <a:buChar char="●"/>
            </a:pPr>
            <a:r>
              <a:rPr i="1" lang="en">
                <a:solidFill>
                  <a:schemeClr val="dk1"/>
                </a:solidFill>
              </a:rPr>
              <a:t>RQ2: How do these patterns behave under heterogeneous workloads?</a:t>
            </a:r>
            <a:br>
              <a:rPr i="1" lang="en">
                <a:solidFill>
                  <a:schemeClr val="dk1"/>
                </a:solidFill>
              </a:rPr>
            </a:br>
            <a:br>
              <a:rPr i="1" lang="en">
                <a:solidFill>
                  <a:schemeClr val="dk1"/>
                </a:solidFill>
              </a:rPr>
            </a:br>
            <a:r>
              <a:rPr lang="en">
                <a:solidFill>
                  <a:schemeClr val="dk1"/>
                </a:solidFill>
              </a:rPr>
              <a:t> </a:t>
            </a:r>
            <a:r>
              <a:rPr i="1" lang="en">
                <a:solidFill>
                  <a:schemeClr val="dk1"/>
                </a:solidFill>
              </a:rPr>
              <a:t>Here they found something interesting — performance changes a lot based on the mix of requests. Some patterns behave as expected, but a few can even become bottlenecks and slow down the system.”</a:t>
            </a:r>
            <a:br>
              <a:rPr i="1" lang="en">
                <a:solidFill>
                  <a:schemeClr val="dk1"/>
                </a:solidFill>
              </a:rPr>
            </a:br>
            <a:endParaRPr i="1">
              <a:solidFill>
                <a:schemeClr val="dk1"/>
              </a:solidFill>
            </a:endParaRPr>
          </a:p>
          <a:p>
            <a:pPr indent="0" lvl="0" marL="0" rtl="0" algn="l">
              <a:lnSpc>
                <a:spcPct val="115000"/>
              </a:lnSpc>
              <a:spcBef>
                <a:spcPts val="1200"/>
              </a:spcBef>
              <a:spcAft>
                <a:spcPts val="1200"/>
              </a:spcAft>
              <a:buNone/>
            </a:pPr>
            <a:r>
              <a:rPr i="1" lang="en">
                <a:solidFill>
                  <a:schemeClr val="dk1"/>
                </a:solidFill>
              </a:rPr>
              <a:t>“So now that we have the questions and a hint of the findings… let’s dive deeper into how they actually built these models and what they discovered.”</a:t>
            </a:r>
            <a:endParaRPr i="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89dbcebd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89dbcebd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RQ1 investigates how microservice design patterns can be represented through </a:t>
            </a:r>
            <a:r>
              <a:rPr b="1" lang="en">
                <a:solidFill>
                  <a:schemeClr val="dk1"/>
                </a:solidFill>
              </a:rPr>
              <a:t>Queueing Network (QN) performance models</a:t>
            </a:r>
            <a:r>
              <a:rPr lang="en">
                <a:solidFill>
                  <a:schemeClr val="dk1"/>
                </a:solidFill>
              </a:rPr>
              <a:t>. The goal of this modeling approach is to </a:t>
            </a:r>
            <a:r>
              <a:rPr b="1" lang="en">
                <a:solidFill>
                  <a:schemeClr val="dk1"/>
                </a:solidFill>
              </a:rPr>
              <a:t>capture the request flow and resource sharing</a:t>
            </a:r>
            <a:r>
              <a:rPr lang="en">
                <a:solidFill>
                  <a:schemeClr val="dk1"/>
                </a:solidFill>
              </a:rPr>
              <a:t> among microservices so that performance can be evaluated early in the design phase. In the QN setup, </a:t>
            </a:r>
            <a:r>
              <a:rPr b="1" lang="en">
                <a:solidFill>
                  <a:schemeClr val="dk1"/>
                </a:solidFill>
              </a:rPr>
              <a:t>service stations</a:t>
            </a:r>
            <a:r>
              <a:rPr lang="en">
                <a:solidFill>
                  <a:schemeClr val="dk1"/>
                </a:solidFill>
              </a:rPr>
              <a:t> represent the processing resources or microservices, while </a:t>
            </a:r>
            <a:r>
              <a:rPr b="1" lang="en">
                <a:solidFill>
                  <a:schemeClr val="dk1"/>
                </a:solidFill>
              </a:rPr>
              <a:t>jobs</a:t>
            </a:r>
            <a:r>
              <a:rPr lang="en">
                <a:solidFill>
                  <a:schemeClr val="dk1"/>
                </a:solidFill>
              </a:rPr>
              <a:t> represent the user requests circulating through the system. Two kinds of stations are used: </a:t>
            </a:r>
            <a:r>
              <a:rPr b="1" lang="en">
                <a:solidFill>
                  <a:schemeClr val="dk1"/>
                </a:solidFill>
              </a:rPr>
              <a:t>processing stations</a:t>
            </a:r>
            <a:r>
              <a:rPr lang="en">
                <a:solidFill>
                  <a:schemeClr val="dk1"/>
                </a:solidFill>
              </a:rPr>
              <a:t>, which have a finite number of servers and a queue to model waiting and service times; and </a:t>
            </a:r>
            <a:r>
              <a:rPr b="1" lang="en">
                <a:solidFill>
                  <a:schemeClr val="dk1"/>
                </a:solidFill>
              </a:rPr>
              <a:t>delay stations</a:t>
            </a:r>
            <a:r>
              <a:rPr lang="en">
                <a:solidFill>
                  <a:schemeClr val="dk1"/>
                </a:solidFill>
              </a:rPr>
              <a:t>, which have infinite servers and no queue, used to represent activities such as network or client delays.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Requests in the model </a:t>
            </a:r>
            <a:r>
              <a:rPr b="1" lang="en">
                <a:solidFill>
                  <a:schemeClr val="dk1"/>
                </a:solidFill>
              </a:rPr>
              <a:t>arrive, wait, are processed, and then move to the next service</a:t>
            </a:r>
            <a:r>
              <a:rPr lang="en">
                <a:solidFill>
                  <a:schemeClr val="dk1"/>
                </a:solidFill>
              </a:rPr>
              <a:t>, following the routing structure of the system. Each station’s </a:t>
            </a:r>
            <a:r>
              <a:rPr b="1" lang="en">
                <a:solidFill>
                  <a:schemeClr val="dk1"/>
                </a:solidFill>
              </a:rPr>
              <a:t>service time (S)</a:t>
            </a:r>
            <a:r>
              <a:rPr lang="en">
                <a:solidFill>
                  <a:schemeClr val="dk1"/>
                </a:solidFill>
              </a:rPr>
              <a:t> is assumed to follow an </a:t>
            </a:r>
            <a:r>
              <a:rPr b="1" lang="en">
                <a:solidFill>
                  <a:schemeClr val="dk1"/>
                </a:solidFill>
              </a:rPr>
              <a:t>exponential distribution</a:t>
            </a:r>
            <a:r>
              <a:rPr lang="en">
                <a:solidFill>
                  <a:schemeClr val="dk1"/>
                </a:solidFill>
              </a:rPr>
              <a:t>,which is standard in QN modeling. To simulate parallelism, a </a:t>
            </a:r>
            <a:r>
              <a:rPr b="1" lang="en">
                <a:solidFill>
                  <a:schemeClr val="dk1"/>
                </a:solidFill>
              </a:rPr>
              <a:t>Fork-Join mechanism</a:t>
            </a:r>
            <a:r>
              <a:rPr lang="en">
                <a:solidFill>
                  <a:schemeClr val="dk1"/>
                </a:solidFill>
              </a:rPr>
              <a:t> is included, allowing requests to be split into concurrent tasks—such as multiple microservice calls—and then rejoined before completing. The authors used these models to compute two key performance metrics: </a:t>
            </a:r>
            <a:r>
              <a:rPr b="1" lang="en">
                <a:solidFill>
                  <a:schemeClr val="dk1"/>
                </a:solidFill>
              </a:rPr>
              <a:t>Response Time (R)</a:t>
            </a:r>
            <a:r>
              <a:rPr lang="en">
                <a:solidFill>
                  <a:schemeClr val="dk1"/>
                </a:solidFill>
              </a:rPr>
              <a:t>, indicating how long each request spends in the system, and </a:t>
            </a:r>
            <a:r>
              <a:rPr b="1" lang="en">
                <a:solidFill>
                  <a:schemeClr val="dk1"/>
                </a:solidFill>
              </a:rPr>
              <a:t>Utilization (U)</a:t>
            </a:r>
            <a:r>
              <a:rPr lang="en">
                <a:solidFill>
                  <a:schemeClr val="dk1"/>
                </a:solidFill>
              </a:rPr>
              <a:t>, reflecting how intensively each microservice resource is used. This QN setup forms the foundation for modeling all seven design patterns analyzed in the study.</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89dbcebd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989dbcebd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let’s look at how this framework was applied to model the performance of different microservice design patterns.,The </a:t>
            </a:r>
            <a:r>
              <a:rPr b="1" lang="en">
                <a:solidFill>
                  <a:schemeClr val="dk1"/>
                </a:solidFill>
              </a:rPr>
              <a:t>Anti-Corruption Layer</a:t>
            </a:r>
            <a:r>
              <a:rPr lang="en">
                <a:solidFill>
                  <a:schemeClr val="dk1"/>
                </a:solidFill>
              </a:rPr>
              <a:t> pattern is used when new microservices need to communicate with older or incompatible legacy systems. Without it, data can become inconsistent and integration unreliable. This pattern introduces a translation or adapter layer between the systems to ensure clean communication , one drawback however is that it slightly increases latency due to the extra processing step.</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89dbcebd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89dbcebd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Backends for Frontends</a:t>
            </a:r>
            <a:r>
              <a:rPr lang="en">
                <a:solidFill>
                  <a:schemeClr val="dk1"/>
                </a:solidFill>
              </a:rPr>
              <a:t> pattern addresses the issue of a single backend serving different client types like web, mobile, or IoT. This often overloads the backend with interface-specific logic. The solution is to provide a </a:t>
            </a:r>
            <a:r>
              <a:rPr b="1" lang="en">
                <a:solidFill>
                  <a:schemeClr val="dk1"/>
                </a:solidFill>
              </a:rPr>
              <a:t>dedicated backend for each client type</a:t>
            </a:r>
            <a:r>
              <a:rPr lang="en">
                <a:solidFill>
                  <a:schemeClr val="dk1"/>
                </a:solidFill>
              </a:rPr>
              <a:t>, which reduces complexity and improves response times since each backend is optimized for its respective interface.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89dbcebd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89dbcebd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CQRS pattern</a:t>
            </a:r>
            <a:r>
              <a:rPr lang="en">
                <a:solidFill>
                  <a:schemeClr val="dk1"/>
                </a:solidFill>
              </a:rPr>
              <a:t> separates read and write operations to overcome contention from a single shared data model. It can be implemented as </a:t>
            </a:r>
            <a:r>
              <a:rPr b="1" lang="en">
                <a:solidFill>
                  <a:schemeClr val="dk1"/>
                </a:solidFill>
              </a:rPr>
              <a:t>software separation</a:t>
            </a:r>
            <a:r>
              <a:rPr lang="en">
                <a:solidFill>
                  <a:schemeClr val="dk1"/>
                </a:solidFill>
              </a:rPr>
              <a:t>, where read and write logic share the same hardware, or </a:t>
            </a:r>
            <a:r>
              <a:rPr b="1" lang="en">
                <a:solidFill>
                  <a:schemeClr val="dk1"/>
                </a:solidFill>
              </a:rPr>
              <a:t>hardware separation</a:t>
            </a:r>
            <a:r>
              <a:rPr lang="en">
                <a:solidFill>
                  <a:schemeClr val="dk1"/>
                </a:solidFill>
              </a:rPr>
              <a:t>, where they run on different nodes. The software split performs better for frequent writes, while the hardware split scales better for read-heavy workloads.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89dbcebd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89dbcebd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Gateway Aggregation</a:t>
            </a:r>
            <a:r>
              <a:rPr lang="en">
                <a:solidFill>
                  <a:schemeClr val="dk1"/>
                </a:solidFill>
              </a:rPr>
              <a:t> pattern addresses the issue of clients needing to call multiple microservices individually, which increases network latency. By introducing a </a:t>
            </a:r>
            <a:r>
              <a:rPr b="1" lang="en">
                <a:solidFill>
                  <a:schemeClr val="dk1"/>
                </a:solidFill>
              </a:rPr>
              <a:t>gateway</a:t>
            </a:r>
            <a:r>
              <a:rPr lang="en">
                <a:solidFill>
                  <a:schemeClr val="dk1"/>
                </a:solidFill>
              </a:rPr>
              <a:t> that aggregates these requests into a single call, this pattern reduces network overhead and improves overall response time for the client.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89dbcebd5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989dbcebd5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Gateway Offloading</a:t>
            </a:r>
            <a:r>
              <a:rPr lang="en">
                <a:solidFill>
                  <a:schemeClr val="dk1"/>
                </a:solidFill>
              </a:rPr>
              <a:t> pattern helps manage cross-cutting concerns like authentication, logging, and caching, which are often duplicated across services. It moves these shared tasks to a </a:t>
            </a:r>
            <a:r>
              <a:rPr b="1" lang="en">
                <a:solidFill>
                  <a:schemeClr val="dk1"/>
                </a:solidFill>
              </a:rPr>
              <a:t>centralized gateway</a:t>
            </a:r>
            <a:r>
              <a:rPr lang="en">
                <a:solidFill>
                  <a:schemeClr val="dk1"/>
                </a:solidFill>
              </a:rPr>
              <a:t>, reducing redundancy and simplifying service logic. One drawbac k here is thats can create a potential bottleneck if the gateway becomes overloaded.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989dbcebd5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989dbcebd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Pipes and Filters</a:t>
            </a:r>
            <a:r>
              <a:rPr lang="en">
                <a:solidFill>
                  <a:schemeClr val="dk1"/>
                </a:solidFill>
              </a:rPr>
              <a:t> pattern structures a system as a series of processing steps, where each filter handles one task and passes its output downstream. It can be modeled as </a:t>
            </a:r>
            <a:r>
              <a:rPr b="1" lang="en">
                <a:solidFill>
                  <a:schemeClr val="dk1"/>
                </a:solidFill>
              </a:rPr>
              <a:t>separated pipelines</a:t>
            </a:r>
            <a:r>
              <a:rPr lang="en">
                <a:solidFill>
                  <a:schemeClr val="dk1"/>
                </a:solidFill>
              </a:rPr>
              <a:t>, where each user group has its own sequence, or as </a:t>
            </a:r>
            <a:r>
              <a:rPr b="1" lang="en">
                <a:solidFill>
                  <a:schemeClr val="dk1"/>
                </a:solidFill>
              </a:rPr>
              <a:t>joint services</a:t>
            </a:r>
            <a:r>
              <a:rPr lang="en">
                <a:solidFill>
                  <a:schemeClr val="dk1"/>
                </a:solidFill>
              </a:rPr>
              <a:t>, where some filters are shared. This modular approach improves reuse and enables parallel execution, enhancing overall throughput.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89dbcebd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989dbcebd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a:t>
            </a:r>
            <a:r>
              <a:rPr b="1" lang="en">
                <a:solidFill>
                  <a:schemeClr val="dk1"/>
                </a:solidFill>
              </a:rPr>
              <a:t>Static Content Hosting</a:t>
            </a:r>
            <a:r>
              <a:rPr lang="en">
                <a:solidFill>
                  <a:schemeClr val="dk1"/>
                </a:solidFill>
              </a:rPr>
              <a:t> pattern separates static and dynamic workloads to improve system performance. When dynamic services also serve images, videos, or CSS files, they slow down under load. This pattern offloads static resources to specialized storage or CDN microservices, freeing up compute capacity and reducing overall response time.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98d788610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98d788610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98d788610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98d788610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98d788610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98d788610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8d788610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8d788610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8d788610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98d788610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8d788610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98d788610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8d788610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8d788610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98d788610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98d788610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98bec7e9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98bec7e9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paper’s message is simple: a pattern can be fast or slow depending on the traffic you actually have. If writes are heavy, CQRS can slow down because of syncing. Keep gateways light, do auth and rate limits there, not big business logic. With BFF, one busy app can overload its backend. In Pipes &amp; Filters, first add capacity to the shared step.</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8bec7e99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8bec7e99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From here, we’ll test the model on a real system and see if the numbers hold. We’ll look beyond speed, checking reliability and availability too, and add cost and energy to the trade-offs. We’ll model autoscaling around clear SLO targets, feed in tracing data to keep the model accurate, and build a small advisor that recommends the right pattern and settings for our target P95/P99.</a:t>
            </a:r>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98d31f811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98d31f811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8d31f811a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8d31f811a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98d31f811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98d31f811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8d31f811a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98d31f811a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98d31f811a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98d31f811a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98df89550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98df89550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“So to conclude — this paper makes one idea very clear: design patterns should not be adopted blindly. What developers often treat as guaranteed performance improvements can, under certain workloads, become bottlenecks.”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“The authors show that queueing-network models are not only feasible, but highly effective for representing microservice patterns. With these models, we can predict response times, identify bottlenecks, and evaluate trade-offs long before deployment.”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“A key observation is that performance depends heavily on workload composition. As the mix of requests changes, the system’s bottleneck shifts — and a pattern that appears beneficial under one workload can be harmful under another. Gateway Offloading is a perfect example: a pattern commonly believed to improve performance can actually slow the system down.”</a:t>
            </a:r>
            <a:endParaRPr i="1">
              <a:solidFill>
                <a:schemeClr val="dk1"/>
              </a:solidFill>
            </a:endParaRPr>
          </a:p>
          <a:p>
            <a:pPr indent="0" lvl="0" marL="0" rtl="0" algn="l">
              <a:lnSpc>
                <a:spcPct val="115000"/>
              </a:lnSpc>
              <a:spcBef>
                <a:spcPts val="1200"/>
              </a:spcBef>
              <a:spcAft>
                <a:spcPts val="1200"/>
              </a:spcAft>
              <a:buNone/>
            </a:pPr>
            <a:r>
              <a:rPr i="1" lang="en">
                <a:solidFill>
                  <a:schemeClr val="dk1"/>
                </a:solidFill>
              </a:rPr>
              <a:t>“Ultimately, this work moves microservice design from assumption to evidence. It empowers architects to make performance-aware decisions early in the lifecycle, saving cost, time, and operational pain.”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834125"/>
            <a:ext cx="8520600" cy="16167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
                <a:solidFill>
                  <a:schemeClr val="dk1"/>
                </a:solidFill>
              </a:rPr>
              <a:t>Aishwarya Pimplikar- 6043953850</a:t>
            </a:r>
            <a:endParaRPr>
              <a:solidFill>
                <a:schemeClr val="dk1"/>
              </a:solidFill>
            </a:endParaRPr>
          </a:p>
          <a:p>
            <a:pPr indent="0" lvl="0" marL="0" rtl="0" algn="ctr">
              <a:spcBef>
                <a:spcPts val="0"/>
              </a:spcBef>
              <a:spcAft>
                <a:spcPts val="0"/>
              </a:spcAft>
              <a:buNone/>
            </a:pPr>
            <a:r>
              <a:rPr lang="en">
                <a:solidFill>
                  <a:schemeClr val="dk1"/>
                </a:solidFill>
              </a:rPr>
              <a:t>Devanshu Shah - 1796127645</a:t>
            </a:r>
            <a:endParaRPr>
              <a:solidFill>
                <a:schemeClr val="dk1"/>
              </a:solidFill>
            </a:endParaRPr>
          </a:p>
          <a:p>
            <a:pPr indent="0" lvl="0" marL="0" rtl="0" algn="ctr">
              <a:spcBef>
                <a:spcPts val="0"/>
              </a:spcBef>
              <a:spcAft>
                <a:spcPts val="0"/>
              </a:spcAft>
              <a:buNone/>
            </a:pPr>
            <a:r>
              <a:rPr lang="en">
                <a:solidFill>
                  <a:schemeClr val="dk1"/>
                </a:solidFill>
              </a:rPr>
              <a:t>Dhiraj Shah - 5362267128</a:t>
            </a:r>
            <a:endParaRPr>
              <a:solidFill>
                <a:schemeClr val="dk1"/>
              </a:solidFill>
            </a:endParaRPr>
          </a:p>
          <a:p>
            <a:pPr indent="0" lvl="0" marL="0" rtl="0" algn="ctr">
              <a:spcBef>
                <a:spcPts val="0"/>
              </a:spcBef>
              <a:spcAft>
                <a:spcPts val="0"/>
              </a:spcAft>
              <a:buNone/>
            </a:pPr>
            <a:r>
              <a:rPr lang="en">
                <a:solidFill>
                  <a:schemeClr val="dk1"/>
                </a:solidFill>
              </a:rPr>
              <a:t>Naman Kothari - 3786602611</a:t>
            </a:r>
            <a:endParaRPr>
              <a:solidFill>
                <a:schemeClr val="dk1"/>
              </a:solidFill>
            </a:endParaRPr>
          </a:p>
          <a:p>
            <a:pPr indent="0" lvl="0" marL="0" rtl="0" algn="ctr">
              <a:spcBef>
                <a:spcPts val="0"/>
              </a:spcBef>
              <a:spcAft>
                <a:spcPts val="0"/>
              </a:spcAft>
              <a:buNone/>
            </a:pPr>
            <a:r>
              <a:rPr lang="en">
                <a:solidFill>
                  <a:schemeClr val="dk1"/>
                </a:solidFill>
              </a:rPr>
              <a:t>Siya</a:t>
            </a:r>
            <a:endParaRPr>
              <a:solidFill>
                <a:schemeClr val="dk1"/>
              </a:solidFill>
            </a:endParaRPr>
          </a:p>
          <a:p>
            <a:pPr indent="0" lvl="0" marL="0" rtl="0" algn="ctr">
              <a:spcBef>
                <a:spcPts val="0"/>
              </a:spcBef>
              <a:spcAft>
                <a:spcPts val="0"/>
              </a:spcAft>
              <a:buNone/>
            </a:pPr>
            <a:r>
              <a:rPr lang="en">
                <a:solidFill>
                  <a:schemeClr val="dk1"/>
                </a:solidFill>
              </a:rPr>
              <a:t>Pranav Kolhe - 6981095982</a:t>
            </a:r>
            <a:endParaRPr>
              <a:solidFill>
                <a:schemeClr val="dk1"/>
              </a:solidFill>
            </a:endParaRPr>
          </a:p>
        </p:txBody>
      </p:sp>
      <p:sp>
        <p:nvSpPr>
          <p:cNvPr id="55" name="Google Shape;55;p13"/>
          <p:cNvSpPr txBox="1"/>
          <p:nvPr>
            <p:ph type="ctrTitle"/>
          </p:nvPr>
        </p:nvSpPr>
        <p:spPr>
          <a:xfrm>
            <a:off x="-56700" y="70750"/>
            <a:ext cx="8992800" cy="23070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3544">
                <a:latin typeface="Impact"/>
                <a:ea typeface="Impact"/>
                <a:cs typeface="Impact"/>
                <a:sym typeface="Impact"/>
              </a:rPr>
              <a:t>    Performance Modeling and Analysis of Design</a:t>
            </a:r>
            <a:endParaRPr sz="3544">
              <a:latin typeface="Impact"/>
              <a:ea typeface="Impact"/>
              <a:cs typeface="Impact"/>
              <a:sym typeface="Impact"/>
            </a:endParaRPr>
          </a:p>
          <a:p>
            <a:pPr indent="0" lvl="0" marL="0" rtl="0" algn="ctr">
              <a:lnSpc>
                <a:spcPct val="115000"/>
              </a:lnSpc>
              <a:spcBef>
                <a:spcPts val="0"/>
              </a:spcBef>
              <a:spcAft>
                <a:spcPts val="0"/>
              </a:spcAft>
              <a:buNone/>
            </a:pPr>
            <a:r>
              <a:rPr lang="en" sz="3544">
                <a:latin typeface="Impact"/>
                <a:ea typeface="Impact"/>
                <a:cs typeface="Impact"/>
                <a:sym typeface="Impact"/>
              </a:rPr>
              <a:t>Patterns for Microservice Systems</a:t>
            </a:r>
            <a:endParaRPr/>
          </a:p>
        </p:txBody>
      </p:sp>
      <p:pic>
        <p:nvPicPr>
          <p:cNvPr id="56" name="Google Shape;56;p13"/>
          <p:cNvPicPr preferRelativeResize="0"/>
          <p:nvPr/>
        </p:nvPicPr>
        <p:blipFill>
          <a:blip r:embed="rId3">
            <a:alphaModFix/>
          </a:blip>
          <a:stretch>
            <a:fillRect/>
          </a:stretch>
        </p:blipFill>
        <p:spPr>
          <a:xfrm>
            <a:off x="205847" y="3818825"/>
            <a:ext cx="1044101" cy="1165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152075"/>
            <a:ext cx="8520600" cy="4758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highlight>
                  <a:srgbClr val="FFFF00"/>
                </a:highlight>
              </a:rPr>
              <a:t>Motivation </a:t>
            </a:r>
            <a:r>
              <a:rPr lang="en">
                <a:highlight>
                  <a:srgbClr val="FFFF00"/>
                </a:highlight>
              </a:rPr>
              <a:t>and</a:t>
            </a:r>
            <a:r>
              <a:rPr lang="en">
                <a:highlight>
                  <a:srgbClr val="FFFF00"/>
                </a:highlight>
              </a:rPr>
              <a:t> background </a:t>
            </a:r>
            <a:endParaRPr>
              <a:highlight>
                <a:srgbClr val="FFFF00"/>
              </a:highlight>
            </a:endParaRPr>
          </a:p>
          <a:p>
            <a:pPr indent="-342900" lvl="0" marL="457200" rtl="0" algn="l">
              <a:spcBef>
                <a:spcPts val="0"/>
              </a:spcBef>
              <a:spcAft>
                <a:spcPts val="0"/>
              </a:spcAft>
              <a:buSzPts val="1800"/>
              <a:buChar char="●"/>
            </a:pPr>
            <a:r>
              <a:rPr lang="en">
                <a:highlight>
                  <a:srgbClr val="FFFF00"/>
                </a:highlight>
              </a:rPr>
              <a:t>Research objectives and questions </a:t>
            </a:r>
            <a:endParaRPr>
              <a:highlight>
                <a:srgbClr val="FFFF00"/>
              </a:highlight>
            </a:endParaRPr>
          </a:p>
          <a:p>
            <a:pPr indent="-342900" lvl="0" marL="457200" rtl="0" algn="l">
              <a:spcBef>
                <a:spcPts val="0"/>
              </a:spcBef>
              <a:spcAft>
                <a:spcPts val="0"/>
              </a:spcAft>
              <a:buSzPts val="1800"/>
              <a:buChar char="●"/>
            </a:pPr>
            <a:r>
              <a:rPr lang="en">
                <a:highlight>
                  <a:srgbClr val="00FF00"/>
                </a:highlight>
              </a:rPr>
              <a:t>RQ1 : explain the </a:t>
            </a:r>
            <a:r>
              <a:rPr lang="en">
                <a:highlight>
                  <a:srgbClr val="00FF00"/>
                </a:highlight>
              </a:rPr>
              <a:t>QN</a:t>
            </a:r>
            <a:r>
              <a:rPr lang="en">
                <a:highlight>
                  <a:srgbClr val="00FF00"/>
                </a:highlight>
              </a:rPr>
              <a:t> </a:t>
            </a:r>
            <a:r>
              <a:rPr lang="en">
                <a:highlight>
                  <a:srgbClr val="00FF00"/>
                </a:highlight>
              </a:rPr>
              <a:t>pattern</a:t>
            </a:r>
            <a:r>
              <a:rPr lang="en">
                <a:highlight>
                  <a:srgbClr val="00FF00"/>
                </a:highlight>
              </a:rPr>
              <a:t> and </a:t>
            </a:r>
            <a:r>
              <a:rPr lang="en">
                <a:highlight>
                  <a:srgbClr val="00FF00"/>
                </a:highlight>
              </a:rPr>
              <a:t>the</a:t>
            </a:r>
            <a:r>
              <a:rPr lang="en">
                <a:highlight>
                  <a:srgbClr val="00FF00"/>
                </a:highlight>
              </a:rPr>
              <a:t> 7 patterns (problem it solves, explain)-A</a:t>
            </a:r>
            <a:endParaRPr>
              <a:highlight>
                <a:srgbClr val="00FF00"/>
              </a:highlight>
            </a:endParaRPr>
          </a:p>
          <a:p>
            <a:pPr indent="-342900" lvl="0" marL="457200" rtl="0" algn="l">
              <a:spcBef>
                <a:spcPts val="0"/>
              </a:spcBef>
              <a:spcAft>
                <a:spcPts val="0"/>
              </a:spcAft>
              <a:buSzPts val="1800"/>
              <a:buChar char="●"/>
            </a:pPr>
            <a:r>
              <a:rPr lang="en">
                <a:highlight>
                  <a:srgbClr val="F9CB9C"/>
                </a:highlight>
              </a:rPr>
              <a:t>RQ2:  </a:t>
            </a:r>
            <a:r>
              <a:rPr lang="en">
                <a:highlight>
                  <a:srgbClr val="F9CB9C"/>
                </a:highlight>
              </a:rPr>
              <a:t>explain</a:t>
            </a:r>
            <a:r>
              <a:rPr lang="en">
                <a:highlight>
                  <a:srgbClr val="F9CB9C"/>
                </a:highlight>
              </a:rPr>
              <a:t> </a:t>
            </a:r>
            <a:r>
              <a:rPr lang="en">
                <a:highlight>
                  <a:srgbClr val="F9CB9C"/>
                </a:highlight>
              </a:rPr>
              <a:t>performance</a:t>
            </a:r>
            <a:r>
              <a:rPr lang="en">
                <a:highlight>
                  <a:srgbClr val="F9CB9C"/>
                </a:highlight>
              </a:rPr>
              <a:t> models,and again for all 7 explain the simulations, findings,</a:t>
            </a:r>
            <a:r>
              <a:rPr lang="en"/>
              <a:t> </a:t>
            </a:r>
            <a:r>
              <a:rPr lang="en">
                <a:highlight>
                  <a:srgbClr val="EA9999"/>
                </a:highlight>
              </a:rPr>
              <a:t>Summarize which patterns improved or hurt performance in a table/visual</a:t>
            </a:r>
            <a:endParaRPr>
              <a:highlight>
                <a:srgbClr val="EA9999"/>
              </a:highlight>
            </a:endParaRPr>
          </a:p>
          <a:p>
            <a:pPr indent="-342900" lvl="0" marL="457200" rtl="0" algn="l">
              <a:spcBef>
                <a:spcPts val="0"/>
              </a:spcBef>
              <a:spcAft>
                <a:spcPts val="0"/>
              </a:spcAft>
              <a:buSzPts val="1800"/>
              <a:buChar char="●"/>
            </a:pPr>
            <a:r>
              <a:rPr lang="en">
                <a:highlight>
                  <a:srgbClr val="EA9999"/>
                </a:highlight>
              </a:rPr>
              <a:t>Practical </a:t>
            </a:r>
            <a:r>
              <a:rPr lang="en">
                <a:highlight>
                  <a:srgbClr val="EA9999"/>
                </a:highlight>
              </a:rPr>
              <a:t>Implications</a:t>
            </a:r>
            <a:r>
              <a:rPr lang="en">
                <a:highlight>
                  <a:srgbClr val="EA9999"/>
                </a:highlight>
              </a:rPr>
              <a:t> acc to the authors  and Our Team’s Perspective on the </a:t>
            </a:r>
            <a:r>
              <a:rPr lang="en">
                <a:highlight>
                  <a:srgbClr val="EA9999"/>
                </a:highlight>
              </a:rPr>
              <a:t>practical</a:t>
            </a:r>
            <a:r>
              <a:rPr lang="en">
                <a:highlight>
                  <a:srgbClr val="EA9999"/>
                </a:highlight>
              </a:rPr>
              <a:t> impact</a:t>
            </a:r>
            <a:endParaRPr>
              <a:highlight>
                <a:srgbClr val="EA9999"/>
              </a:highlight>
            </a:endParaRPr>
          </a:p>
          <a:p>
            <a:pPr indent="-342900" lvl="0" marL="457200" rtl="0" algn="l">
              <a:spcBef>
                <a:spcPts val="0"/>
              </a:spcBef>
              <a:spcAft>
                <a:spcPts val="0"/>
              </a:spcAft>
              <a:buSzPts val="1800"/>
              <a:buChar char="●"/>
            </a:pPr>
            <a:r>
              <a:rPr lang="en">
                <a:highlight>
                  <a:srgbClr val="EA9999"/>
                </a:highlight>
              </a:rPr>
              <a:t>Future work suggested by paper, then our own suggestions</a:t>
            </a:r>
            <a:endParaRPr>
              <a:highlight>
                <a:srgbClr val="EA9999"/>
              </a:highlight>
            </a:endParaRPr>
          </a:p>
          <a:p>
            <a:pPr indent="-342900" lvl="0" marL="457200" rtl="0" algn="l">
              <a:spcBef>
                <a:spcPts val="0"/>
              </a:spcBef>
              <a:spcAft>
                <a:spcPts val="0"/>
              </a:spcAft>
              <a:buSzPts val="1800"/>
              <a:buChar char="●"/>
            </a:pPr>
            <a:r>
              <a:rPr lang="en">
                <a:highlight>
                  <a:srgbClr val="FFD966"/>
                </a:highlight>
              </a:rPr>
              <a:t>Critique: </a:t>
            </a:r>
            <a:endParaRPr>
              <a:highlight>
                <a:srgbClr val="FFD966"/>
              </a:highlight>
            </a:endParaRPr>
          </a:p>
          <a:p>
            <a:pPr indent="-317500" lvl="1" marL="914400" rtl="0" algn="l">
              <a:spcBef>
                <a:spcPts val="0"/>
              </a:spcBef>
              <a:spcAft>
                <a:spcPts val="0"/>
              </a:spcAft>
              <a:buSzPts val="1400"/>
              <a:buChar char="○"/>
            </a:pPr>
            <a:r>
              <a:rPr lang="en">
                <a:highlight>
                  <a:srgbClr val="FFD966"/>
                </a:highlight>
              </a:rPr>
              <a:t>• Q1 How it differs from previous research (related works can be referred)</a:t>
            </a:r>
            <a:endParaRPr>
              <a:highlight>
                <a:srgbClr val="FFD966"/>
              </a:highlight>
            </a:endParaRPr>
          </a:p>
          <a:p>
            <a:pPr indent="-317500" lvl="1" marL="914400" rtl="0" algn="l">
              <a:spcBef>
                <a:spcPts val="0"/>
              </a:spcBef>
              <a:spcAft>
                <a:spcPts val="0"/>
              </a:spcAft>
              <a:buSzPts val="1400"/>
              <a:buChar char="○"/>
            </a:pPr>
            <a:r>
              <a:rPr lang="en">
                <a:highlight>
                  <a:srgbClr val="FFD966"/>
                </a:highlight>
              </a:rPr>
              <a:t>• Q2 Appropriateness </a:t>
            </a:r>
            <a:r>
              <a:rPr lang="en">
                <a:highlight>
                  <a:srgbClr val="FFD966"/>
                </a:highlight>
              </a:rPr>
              <a:t>of</a:t>
            </a:r>
            <a:r>
              <a:rPr lang="en">
                <a:highlight>
                  <a:srgbClr val="FFD966"/>
                </a:highlight>
              </a:rPr>
              <a:t> </a:t>
            </a:r>
            <a:r>
              <a:rPr lang="en">
                <a:highlight>
                  <a:srgbClr val="FFD966"/>
                </a:highlight>
              </a:rPr>
              <a:t>methodology</a:t>
            </a:r>
            <a:endParaRPr>
              <a:highlight>
                <a:srgbClr val="FFD966"/>
              </a:highlight>
            </a:endParaRPr>
          </a:p>
          <a:p>
            <a:pPr indent="-317500" lvl="1" marL="914400" rtl="0" algn="l">
              <a:spcBef>
                <a:spcPts val="0"/>
              </a:spcBef>
              <a:spcAft>
                <a:spcPts val="0"/>
              </a:spcAft>
              <a:buSzPts val="1400"/>
              <a:buChar char="○"/>
            </a:pPr>
            <a:r>
              <a:rPr lang="en">
                <a:highlight>
                  <a:srgbClr val="FFD966"/>
                </a:highlight>
              </a:rPr>
              <a:t>• Q3 Validity &amp; limitations</a:t>
            </a:r>
            <a:endParaRPr>
              <a:highlight>
                <a:srgbClr val="FFD966"/>
              </a:highlight>
            </a:endParaRPr>
          </a:p>
          <a:p>
            <a:pPr indent="-317500" lvl="1" marL="914400" rtl="0" algn="l">
              <a:spcBef>
                <a:spcPts val="0"/>
              </a:spcBef>
              <a:spcAft>
                <a:spcPts val="0"/>
              </a:spcAft>
              <a:buSzPts val="1400"/>
              <a:buChar char="○"/>
            </a:pPr>
            <a:r>
              <a:rPr lang="en">
                <a:highlight>
                  <a:srgbClr val="FFD966"/>
                </a:highlight>
              </a:rPr>
              <a:t>• Q4 Presentation quality - language and quality of paper</a:t>
            </a:r>
            <a:endParaRPr>
              <a:highlight>
                <a:srgbClr val="FFD966"/>
              </a:highlight>
            </a:endParaRPr>
          </a:p>
          <a:p>
            <a:pPr indent="-342900" lvl="0" marL="457200" rtl="0" algn="l">
              <a:spcBef>
                <a:spcPts val="0"/>
              </a:spcBef>
              <a:spcAft>
                <a:spcPts val="0"/>
              </a:spcAft>
              <a:buSzPts val="1800"/>
              <a:buChar char="●"/>
            </a:pPr>
            <a:r>
              <a:rPr lang="en">
                <a:highlight>
                  <a:srgbClr val="FFFF00"/>
                </a:highlight>
              </a:rPr>
              <a:t>Conclusion &amp; Takeaways</a:t>
            </a:r>
            <a:endParaRPr>
              <a:highlight>
                <a:srgbClr val="FFFF00"/>
              </a:highlight>
            </a:endParaRPr>
          </a:p>
        </p:txBody>
      </p:sp>
      <p:graphicFrame>
        <p:nvGraphicFramePr>
          <p:cNvPr id="62" name="Google Shape;62;p14"/>
          <p:cNvGraphicFramePr/>
          <p:nvPr/>
        </p:nvGraphicFramePr>
        <p:xfrm>
          <a:off x="1377900" y="617550"/>
          <a:ext cx="3000000" cy="3000000"/>
        </p:xfrm>
        <a:graphic>
          <a:graphicData uri="http://schemas.openxmlformats.org/drawingml/2006/table">
            <a:tbl>
              <a:tblPr>
                <a:noFill/>
                <a:tableStyleId>{BCBFADC8-1FE7-4F0D-9103-3D3F7F59D1B8}</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381">
                <a:solidFill>
                  <a:schemeClr val="dk1"/>
                </a:solidFill>
              </a:rPr>
              <a:t>Motivation &amp; Background:</a:t>
            </a:r>
            <a:endParaRPr b="1" sz="1381">
              <a:solidFill>
                <a:schemeClr val="dk1"/>
              </a:solidFill>
            </a:endParaRPr>
          </a:p>
          <a:p>
            <a:pPr indent="-303643" lvl="0" marL="457200" rtl="0" algn="l">
              <a:spcBef>
                <a:spcPts val="1200"/>
              </a:spcBef>
              <a:spcAft>
                <a:spcPts val="0"/>
              </a:spcAft>
              <a:buClr>
                <a:schemeClr val="dk1"/>
              </a:buClr>
              <a:buSzPts val="1182"/>
              <a:buChar char="●"/>
            </a:pPr>
            <a:r>
              <a:rPr lang="en" sz="1181">
                <a:solidFill>
                  <a:schemeClr val="dk1"/>
                </a:solidFill>
              </a:rPr>
              <a:t>Microservices depend heavily on design patterns</a:t>
            </a:r>
            <a:br>
              <a:rPr lang="en" sz="1181">
                <a:solidFill>
                  <a:schemeClr val="dk1"/>
                </a:solidFill>
              </a:rPr>
            </a:br>
            <a:endParaRPr sz="1181">
              <a:solidFill>
                <a:schemeClr val="dk1"/>
              </a:solidFill>
            </a:endParaRPr>
          </a:p>
          <a:p>
            <a:pPr indent="-303643" lvl="0" marL="457200" rtl="0" algn="l">
              <a:spcBef>
                <a:spcPts val="0"/>
              </a:spcBef>
              <a:spcAft>
                <a:spcPts val="0"/>
              </a:spcAft>
              <a:buClr>
                <a:schemeClr val="dk1"/>
              </a:buClr>
              <a:buSzPts val="1182"/>
              <a:buChar char="●"/>
            </a:pPr>
            <a:r>
              <a:rPr lang="en" sz="1181">
                <a:solidFill>
                  <a:schemeClr val="dk1"/>
                </a:solidFill>
              </a:rPr>
              <a:t>Performance impact often assumed, not measured</a:t>
            </a:r>
            <a:br>
              <a:rPr lang="en" sz="1181">
                <a:solidFill>
                  <a:schemeClr val="dk1"/>
                </a:solidFill>
              </a:rPr>
            </a:br>
            <a:endParaRPr sz="1181">
              <a:solidFill>
                <a:schemeClr val="dk1"/>
              </a:solidFill>
            </a:endParaRPr>
          </a:p>
          <a:p>
            <a:pPr indent="-303643" lvl="0" marL="457200" rtl="0" algn="l">
              <a:spcBef>
                <a:spcPts val="0"/>
              </a:spcBef>
              <a:spcAft>
                <a:spcPts val="0"/>
              </a:spcAft>
              <a:buClr>
                <a:schemeClr val="dk1"/>
              </a:buClr>
              <a:buSzPts val="1182"/>
              <a:buChar char="●"/>
            </a:pPr>
            <a:r>
              <a:rPr lang="en" sz="1181">
                <a:solidFill>
                  <a:schemeClr val="dk1"/>
                </a:solidFill>
              </a:rPr>
              <a:t>Most evaluations happen at runtime</a:t>
            </a:r>
            <a:br>
              <a:rPr lang="en" sz="1181">
                <a:solidFill>
                  <a:schemeClr val="dk1"/>
                </a:solidFill>
              </a:rPr>
            </a:br>
            <a:endParaRPr sz="1181">
              <a:solidFill>
                <a:schemeClr val="dk1"/>
              </a:solidFill>
            </a:endParaRPr>
          </a:p>
          <a:p>
            <a:pPr indent="-303643" lvl="0" marL="457200" rtl="0" algn="l">
              <a:spcBef>
                <a:spcPts val="0"/>
              </a:spcBef>
              <a:spcAft>
                <a:spcPts val="0"/>
              </a:spcAft>
              <a:buClr>
                <a:schemeClr val="dk1"/>
              </a:buClr>
              <a:buSzPts val="1182"/>
              <a:buChar char="●"/>
            </a:pPr>
            <a:r>
              <a:rPr lang="en" sz="1181">
                <a:solidFill>
                  <a:schemeClr val="dk1"/>
                </a:solidFill>
              </a:rPr>
              <a:t>No formal models to predict performance under different workloads</a:t>
            </a:r>
            <a:endParaRPr sz="1181">
              <a:solidFill>
                <a:schemeClr val="dk1"/>
              </a:solidFill>
            </a:endParaRPr>
          </a:p>
          <a:p>
            <a:pPr indent="0" lvl="0" marL="0" rtl="0" algn="l">
              <a:spcBef>
                <a:spcPts val="1200"/>
              </a:spcBef>
              <a:spcAft>
                <a:spcPts val="0"/>
              </a:spcAft>
              <a:buNone/>
            </a:pPr>
            <a:r>
              <a:rPr b="1" lang="en" sz="1381">
                <a:solidFill>
                  <a:schemeClr val="dk1"/>
                </a:solidFill>
              </a:rPr>
              <a:t>This Paper Aims To:</a:t>
            </a:r>
            <a:endParaRPr b="1" sz="1381">
              <a:solidFill>
                <a:schemeClr val="dk1"/>
              </a:solidFill>
            </a:endParaRPr>
          </a:p>
          <a:p>
            <a:pPr indent="-303643" lvl="0" marL="457200" rtl="0" algn="l">
              <a:spcBef>
                <a:spcPts val="1200"/>
              </a:spcBef>
              <a:spcAft>
                <a:spcPts val="0"/>
              </a:spcAft>
              <a:buClr>
                <a:schemeClr val="dk1"/>
              </a:buClr>
              <a:buSzPts val="1182"/>
              <a:buChar char="●"/>
            </a:pPr>
            <a:r>
              <a:rPr lang="en" sz="1181">
                <a:solidFill>
                  <a:schemeClr val="dk1"/>
                </a:solidFill>
              </a:rPr>
              <a:t>Build performance models for key microservice design patterns</a:t>
            </a:r>
            <a:endParaRPr sz="1181">
              <a:solidFill>
                <a:schemeClr val="dk1"/>
              </a:solidFill>
            </a:endParaRPr>
          </a:p>
          <a:p>
            <a:pPr indent="-303643" lvl="0" marL="457200" rtl="0" algn="l">
              <a:spcBef>
                <a:spcPts val="0"/>
              </a:spcBef>
              <a:spcAft>
                <a:spcPts val="0"/>
              </a:spcAft>
              <a:buClr>
                <a:schemeClr val="dk1"/>
              </a:buClr>
              <a:buSzPts val="1182"/>
              <a:buChar char="●"/>
            </a:pPr>
            <a:r>
              <a:rPr lang="en" sz="1181">
                <a:solidFill>
                  <a:schemeClr val="dk1"/>
                </a:solidFill>
              </a:rPr>
              <a:t>Analyze how each pattern behaves under different workloa</a:t>
            </a:r>
            <a:r>
              <a:rPr lang="en" sz="1181">
                <a:solidFill>
                  <a:schemeClr val="dk1"/>
                </a:solidFill>
              </a:rPr>
              <a:t>ds</a:t>
            </a:r>
            <a:endParaRPr sz="400"/>
          </a:p>
        </p:txBody>
      </p:sp>
      <p:sp>
        <p:nvSpPr>
          <p:cNvPr id="68" name="Google Shape;68;p15"/>
          <p:cNvSpPr txBox="1"/>
          <p:nvPr>
            <p:ph type="title"/>
          </p:nvPr>
        </p:nvSpPr>
        <p:spPr>
          <a:xfrm>
            <a:off x="311700" y="320350"/>
            <a:ext cx="8520600" cy="531600"/>
          </a:xfrm>
          <a:prstGeom prst="rect">
            <a:avLst/>
          </a:prstGeom>
          <a:solidFill>
            <a:srgbClr val="FFD966"/>
          </a:solidFill>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61111"/>
              <a:buFont typeface="Arial"/>
              <a:buNone/>
            </a:pPr>
            <a:r>
              <a:rPr b="1" lang="en" sz="1800">
                <a:latin typeface="Impact"/>
                <a:ea typeface="Impact"/>
                <a:cs typeface="Impact"/>
                <a:sym typeface="Impact"/>
              </a:rPr>
              <a:t>Motivation and Background</a:t>
            </a:r>
            <a:endParaRPr/>
          </a:p>
          <a:p>
            <a:pPr indent="0" lvl="0" marL="0" rtl="0" algn="l">
              <a:lnSpc>
                <a:spcPct val="115000"/>
              </a:lnSpc>
              <a:spcBef>
                <a:spcPts val="1200"/>
              </a:spcBef>
              <a:spcAft>
                <a:spcPts val="1200"/>
              </a:spcAft>
              <a:buClr>
                <a:schemeClr val="dk1"/>
              </a:buClr>
              <a:buSzPct val="61111"/>
              <a:buFont typeface="Arial"/>
              <a:buNone/>
            </a:pPr>
            <a:r>
              <a:t/>
            </a:r>
            <a:endParaRPr b="1" sz="1800">
              <a:latin typeface="Impact"/>
              <a:ea typeface="Impact"/>
              <a:cs typeface="Impact"/>
              <a:sym typeface="Impac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1127625"/>
            <a:ext cx="8520600" cy="36333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b="1" lang="en" sz="1350">
                <a:solidFill>
                  <a:schemeClr val="dk1"/>
                </a:solidFill>
              </a:rPr>
              <a:t>Key Research Goal:</a:t>
            </a:r>
            <a:endParaRPr b="1" sz="1350">
              <a:solidFill>
                <a:schemeClr val="dk1"/>
              </a:solidFill>
            </a:endParaRPr>
          </a:p>
          <a:p>
            <a:pPr indent="-296148" lvl="0" marL="457200" rtl="0" algn="l">
              <a:spcBef>
                <a:spcPts val="1200"/>
              </a:spcBef>
              <a:spcAft>
                <a:spcPts val="0"/>
              </a:spcAft>
              <a:buClr>
                <a:schemeClr val="dk1"/>
              </a:buClr>
              <a:buSzPct val="100000"/>
              <a:buChar char="●"/>
            </a:pPr>
            <a:r>
              <a:rPr lang="en" sz="1150">
                <a:solidFill>
                  <a:schemeClr val="dk1"/>
                </a:solidFill>
              </a:rPr>
              <a:t>Build performance models for key microservice design patterns</a:t>
            </a:r>
            <a:br>
              <a:rPr lang="en" sz="1150">
                <a:solidFill>
                  <a:schemeClr val="dk1"/>
                </a:solidFill>
              </a:rPr>
            </a:br>
            <a:endParaRPr sz="1150">
              <a:solidFill>
                <a:schemeClr val="dk1"/>
              </a:solidFill>
            </a:endParaRPr>
          </a:p>
          <a:p>
            <a:pPr indent="-296148" lvl="0" marL="457200" rtl="0" algn="l">
              <a:spcBef>
                <a:spcPts val="0"/>
              </a:spcBef>
              <a:spcAft>
                <a:spcPts val="0"/>
              </a:spcAft>
              <a:buClr>
                <a:schemeClr val="dk1"/>
              </a:buClr>
              <a:buSzPct val="100000"/>
              <a:buChar char="●"/>
            </a:pPr>
            <a:r>
              <a:rPr lang="en" sz="1150">
                <a:solidFill>
                  <a:schemeClr val="dk1"/>
                </a:solidFill>
              </a:rPr>
              <a:t>Analyze how their performance changes with different workloads</a:t>
            </a:r>
            <a:endParaRPr b="1" sz="1150">
              <a:solidFill>
                <a:schemeClr val="dk1"/>
              </a:solidFill>
            </a:endParaRPr>
          </a:p>
          <a:p>
            <a:pPr indent="0" lvl="0" marL="0" rtl="0" algn="l">
              <a:spcBef>
                <a:spcPts val="1400"/>
              </a:spcBef>
              <a:spcAft>
                <a:spcPts val="0"/>
              </a:spcAft>
              <a:buNone/>
            </a:pPr>
            <a:r>
              <a:rPr b="1" lang="en" sz="1350">
                <a:solidFill>
                  <a:schemeClr val="dk1"/>
                </a:solidFill>
              </a:rPr>
              <a:t>Topics of Investigations:</a:t>
            </a:r>
            <a:endParaRPr b="1" sz="1350">
              <a:solidFill>
                <a:schemeClr val="dk1"/>
              </a:solidFill>
            </a:endParaRPr>
          </a:p>
          <a:p>
            <a:pPr indent="-296624" lvl="0" marL="457200" rtl="0" algn="l">
              <a:spcBef>
                <a:spcPts val="1200"/>
              </a:spcBef>
              <a:spcAft>
                <a:spcPts val="0"/>
              </a:spcAft>
              <a:buClr>
                <a:schemeClr val="dk1"/>
              </a:buClr>
              <a:buSzPct val="100000"/>
              <a:buAutoNum type="arabicPeriod"/>
            </a:pPr>
            <a:r>
              <a:rPr b="1" lang="en" sz="1158">
                <a:solidFill>
                  <a:schemeClr val="dk1"/>
                </a:solidFill>
              </a:rPr>
              <a:t>Modeling</a:t>
            </a:r>
            <a:br>
              <a:rPr b="1" lang="en" sz="1158">
                <a:solidFill>
                  <a:schemeClr val="dk1"/>
                </a:solidFill>
              </a:rPr>
            </a:br>
            <a:br>
              <a:rPr b="1" lang="en" sz="1158">
                <a:solidFill>
                  <a:schemeClr val="dk1"/>
                </a:solidFill>
              </a:rPr>
            </a:br>
            <a:r>
              <a:rPr lang="en" sz="1158">
                <a:solidFill>
                  <a:schemeClr val="dk1"/>
                </a:solidFill>
              </a:rPr>
              <a:t> </a:t>
            </a:r>
            <a:r>
              <a:rPr lang="en" sz="1158">
                <a:solidFill>
                  <a:srgbClr val="0E0E0E"/>
                </a:solidFill>
              </a:rPr>
              <a:t>How can these microservice design patterns be represented using queueing network models?</a:t>
            </a:r>
            <a:br>
              <a:rPr lang="en" sz="1158">
                <a:solidFill>
                  <a:srgbClr val="0E0E0E"/>
                </a:solidFill>
              </a:rPr>
            </a:br>
            <a:br>
              <a:rPr lang="en" sz="1158">
                <a:solidFill>
                  <a:srgbClr val="0E0E0E"/>
                </a:solidFill>
              </a:rPr>
            </a:br>
            <a:r>
              <a:rPr lang="en" sz="1158">
                <a:solidFill>
                  <a:schemeClr val="dk1"/>
                </a:solidFill>
              </a:rPr>
              <a:t> (Goal: build accurate performance models for each pattern.)</a:t>
            </a:r>
            <a:br>
              <a:rPr lang="en" sz="1158">
                <a:solidFill>
                  <a:schemeClr val="dk1"/>
                </a:solidFill>
              </a:rPr>
            </a:br>
            <a:endParaRPr sz="1158">
              <a:solidFill>
                <a:schemeClr val="dk1"/>
              </a:solidFill>
            </a:endParaRPr>
          </a:p>
          <a:p>
            <a:pPr indent="-296624" lvl="0" marL="457200" rtl="0" algn="l">
              <a:spcBef>
                <a:spcPts val="0"/>
              </a:spcBef>
              <a:spcAft>
                <a:spcPts val="0"/>
              </a:spcAft>
              <a:buClr>
                <a:schemeClr val="dk1"/>
              </a:buClr>
              <a:buSzPct val="100000"/>
              <a:buAutoNum type="arabicPeriod"/>
            </a:pPr>
            <a:r>
              <a:rPr b="1" lang="en" sz="1158">
                <a:solidFill>
                  <a:schemeClr val="dk1"/>
                </a:solidFill>
              </a:rPr>
              <a:t>Performance Impact</a:t>
            </a:r>
            <a:br>
              <a:rPr b="1" lang="en" sz="1158">
                <a:solidFill>
                  <a:schemeClr val="dk1"/>
                </a:solidFill>
              </a:rPr>
            </a:br>
            <a:br>
              <a:rPr b="1" lang="en" sz="1158">
                <a:solidFill>
                  <a:schemeClr val="dk1"/>
                </a:solidFill>
              </a:rPr>
            </a:br>
            <a:r>
              <a:rPr lang="en" sz="1158">
                <a:solidFill>
                  <a:schemeClr val="dk1"/>
                </a:solidFill>
              </a:rPr>
              <a:t> </a:t>
            </a:r>
            <a:r>
              <a:rPr lang="en" sz="1158">
                <a:solidFill>
                  <a:srgbClr val="0E0E0E"/>
                </a:solidFill>
              </a:rPr>
              <a:t>How do these design patterns’ performance change under heterogeneous workloads?</a:t>
            </a:r>
            <a:endParaRPr sz="1158">
              <a:solidFill>
                <a:srgbClr val="0E0E0E"/>
              </a:solidFill>
            </a:endParaRPr>
          </a:p>
          <a:p>
            <a:pPr indent="0" lvl="0" marL="457200" rtl="0" algn="l">
              <a:spcBef>
                <a:spcPts val="1200"/>
              </a:spcBef>
              <a:spcAft>
                <a:spcPts val="0"/>
              </a:spcAft>
              <a:buNone/>
            </a:pPr>
            <a:r>
              <a:rPr lang="en" sz="1158">
                <a:solidFill>
                  <a:srgbClr val="0E0E0E"/>
                </a:solidFill>
              </a:rPr>
              <a:t>(Goal: simulate, measure response time + resource usage, find bottlenecks.)</a:t>
            </a:r>
            <a:endParaRPr sz="1158">
              <a:solidFill>
                <a:srgbClr val="0E0E0E"/>
              </a:solidFill>
            </a:endParaRPr>
          </a:p>
          <a:p>
            <a:pPr indent="0" lvl="0" marL="0" rtl="0" algn="l">
              <a:spcBef>
                <a:spcPts val="1200"/>
              </a:spcBef>
              <a:spcAft>
                <a:spcPts val="1200"/>
              </a:spcAft>
              <a:buNone/>
            </a:pPr>
            <a:r>
              <a:t/>
            </a:r>
            <a:endParaRPr/>
          </a:p>
        </p:txBody>
      </p:sp>
      <p:sp>
        <p:nvSpPr>
          <p:cNvPr id="74" name="Google Shape;74;p16"/>
          <p:cNvSpPr txBox="1"/>
          <p:nvPr>
            <p:ph type="title"/>
          </p:nvPr>
        </p:nvSpPr>
        <p:spPr>
          <a:xfrm>
            <a:off x="311700" y="320350"/>
            <a:ext cx="8520600" cy="531600"/>
          </a:xfrm>
          <a:prstGeom prst="rect">
            <a:avLst/>
          </a:prstGeom>
          <a:solidFill>
            <a:srgbClr val="FFD966"/>
          </a:solidFill>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61111"/>
              <a:buFont typeface="Arial"/>
              <a:buNone/>
            </a:pPr>
            <a:r>
              <a:rPr b="1" lang="en" sz="1800">
                <a:latin typeface="Impact"/>
                <a:ea typeface="Impact"/>
                <a:cs typeface="Impact"/>
                <a:sym typeface="Impact"/>
              </a:rPr>
              <a:t>Research Objectives and Questions</a:t>
            </a:r>
            <a:endParaRPr/>
          </a:p>
          <a:p>
            <a:pPr indent="0" lvl="0" marL="0" rtl="0" algn="l">
              <a:lnSpc>
                <a:spcPct val="115000"/>
              </a:lnSpc>
              <a:spcBef>
                <a:spcPts val="1200"/>
              </a:spcBef>
              <a:spcAft>
                <a:spcPts val="1200"/>
              </a:spcAft>
              <a:buClr>
                <a:schemeClr val="dk1"/>
              </a:buClr>
              <a:buSzPct val="61111"/>
              <a:buFont typeface="Arial"/>
              <a:buNone/>
            </a:pPr>
            <a:r>
              <a:t/>
            </a:r>
            <a:endParaRPr b="1" sz="1800">
              <a:latin typeface="Impact"/>
              <a:ea typeface="Impact"/>
              <a:cs typeface="Impact"/>
              <a:sym typeface="Impac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7"/>
          <p:cNvSpPr txBox="1"/>
          <p:nvPr>
            <p:ph type="title"/>
          </p:nvPr>
        </p:nvSpPr>
        <p:spPr>
          <a:xfrm>
            <a:off x="311700" y="80300"/>
            <a:ext cx="395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mpact"/>
                <a:ea typeface="Impact"/>
                <a:cs typeface="Impact"/>
                <a:sym typeface="Impact"/>
              </a:rPr>
              <a:t>RQ1: Queuing Network  </a:t>
            </a:r>
            <a:endParaRPr>
              <a:latin typeface="Impact"/>
              <a:ea typeface="Impact"/>
              <a:cs typeface="Impact"/>
              <a:sym typeface="Impact"/>
            </a:endParaRPr>
          </a:p>
          <a:p>
            <a:pPr indent="0" lvl="0" marL="0" rtl="0" algn="l">
              <a:spcBef>
                <a:spcPts val="0"/>
              </a:spcBef>
              <a:spcAft>
                <a:spcPts val="0"/>
              </a:spcAft>
              <a:buNone/>
            </a:pPr>
            <a:r>
              <a:t/>
            </a:r>
            <a:endParaRPr/>
          </a:p>
        </p:txBody>
      </p:sp>
      <p:sp>
        <p:nvSpPr>
          <p:cNvPr id="80" name="Google Shape;80;p17"/>
          <p:cNvSpPr txBox="1"/>
          <p:nvPr>
            <p:ph idx="1" type="body"/>
          </p:nvPr>
        </p:nvSpPr>
        <p:spPr>
          <a:xfrm>
            <a:off x="311700" y="653000"/>
            <a:ext cx="4402500" cy="4222200"/>
          </a:xfrm>
          <a:prstGeom prst="rect">
            <a:avLst/>
          </a:prstGeom>
        </p:spPr>
        <p:txBody>
          <a:bodyPr anchorCtr="0" anchor="t" bIns="91425" lIns="91425" spcFirstLastPara="1" rIns="91425" wrap="square" tIns="91425">
            <a:noAutofit/>
          </a:bodyPr>
          <a:lstStyle/>
          <a:p>
            <a:pPr indent="-311150" lvl="0" marL="457200" rtl="0" algn="l">
              <a:lnSpc>
                <a:spcPct val="95000"/>
              </a:lnSpc>
              <a:spcBef>
                <a:spcPts val="0"/>
              </a:spcBef>
              <a:spcAft>
                <a:spcPts val="0"/>
              </a:spcAft>
              <a:buClr>
                <a:schemeClr val="dk1"/>
              </a:buClr>
              <a:buSzPts val="1300"/>
              <a:buChar char="●"/>
            </a:pPr>
            <a:r>
              <a:rPr b="1" lang="en" sz="1300">
                <a:solidFill>
                  <a:schemeClr val="dk1"/>
                </a:solidFill>
              </a:rPr>
              <a:t>Purpose:</a:t>
            </a:r>
            <a:r>
              <a:rPr lang="en" sz="1300">
                <a:solidFill>
                  <a:schemeClr val="dk1"/>
                </a:solidFill>
              </a:rPr>
              <a:t> Represent request flow &amp; resource sharing among microservices</a:t>
            </a:r>
            <a:endParaRPr sz="1300">
              <a:solidFill>
                <a:schemeClr val="dk1"/>
              </a:solidFill>
            </a:endParaRPr>
          </a:p>
          <a:p>
            <a:pPr indent="-311150" lvl="0" marL="457200" rtl="0" algn="l">
              <a:lnSpc>
                <a:spcPct val="95000"/>
              </a:lnSpc>
              <a:spcBef>
                <a:spcPts val="0"/>
              </a:spcBef>
              <a:spcAft>
                <a:spcPts val="0"/>
              </a:spcAft>
              <a:buClr>
                <a:schemeClr val="dk1"/>
              </a:buClr>
              <a:buSzPts val="1300"/>
              <a:buChar char="●"/>
            </a:pPr>
            <a:r>
              <a:rPr b="1" lang="en" sz="1300">
                <a:solidFill>
                  <a:schemeClr val="dk1"/>
                </a:solidFill>
              </a:rPr>
              <a:t>Elements:</a:t>
            </a:r>
            <a:br>
              <a:rPr b="1" lang="en" sz="1300">
                <a:solidFill>
                  <a:schemeClr val="dk1"/>
                </a:solidFill>
              </a:rPr>
            </a:br>
            <a:r>
              <a:rPr i="1" lang="en" sz="1300">
                <a:solidFill>
                  <a:schemeClr val="dk1"/>
                </a:solidFill>
              </a:rPr>
              <a:t>Service stations</a:t>
            </a:r>
            <a:r>
              <a:rPr lang="en" sz="1300">
                <a:solidFill>
                  <a:schemeClr val="dk1"/>
                </a:solidFill>
              </a:rPr>
              <a:t> → microservices/resources</a:t>
            </a:r>
            <a:br>
              <a:rPr lang="en" sz="1300">
                <a:solidFill>
                  <a:schemeClr val="dk1"/>
                </a:solidFill>
              </a:rPr>
            </a:br>
            <a:r>
              <a:rPr i="1" lang="en" sz="1300">
                <a:solidFill>
                  <a:schemeClr val="dk1"/>
                </a:solidFill>
              </a:rPr>
              <a:t>Jobs</a:t>
            </a:r>
            <a:r>
              <a:rPr lang="en" sz="1300">
                <a:solidFill>
                  <a:schemeClr val="dk1"/>
                </a:solidFill>
              </a:rPr>
              <a:t> → user requests</a:t>
            </a:r>
            <a:endParaRPr sz="1300">
              <a:solidFill>
                <a:schemeClr val="dk1"/>
              </a:solidFill>
            </a:endParaRPr>
          </a:p>
          <a:p>
            <a:pPr indent="0" lvl="0" marL="457200" rtl="0" algn="l">
              <a:lnSpc>
                <a:spcPct val="95000"/>
              </a:lnSpc>
              <a:spcBef>
                <a:spcPts val="0"/>
              </a:spcBef>
              <a:spcAft>
                <a:spcPts val="0"/>
              </a:spcAft>
              <a:buNone/>
            </a:pPr>
            <a:r>
              <a:t/>
            </a:r>
            <a:endParaRPr sz="1300">
              <a:solidFill>
                <a:schemeClr val="dk1"/>
              </a:solidFill>
            </a:endParaRPr>
          </a:p>
          <a:p>
            <a:pPr indent="0" lvl="0" marL="0" rtl="0" algn="l">
              <a:lnSpc>
                <a:spcPct val="95000"/>
              </a:lnSpc>
              <a:spcBef>
                <a:spcPts val="0"/>
              </a:spcBef>
              <a:spcAft>
                <a:spcPts val="0"/>
              </a:spcAft>
              <a:buNone/>
            </a:pPr>
            <a:r>
              <a:rPr b="1" lang="en" sz="1300">
                <a:solidFill>
                  <a:schemeClr val="dk1"/>
                </a:solidFill>
              </a:rPr>
              <a:t>Station types:</a:t>
            </a:r>
            <a:endParaRPr b="1" sz="1300">
              <a:solidFill>
                <a:schemeClr val="dk1"/>
              </a:solidFill>
            </a:endParaRPr>
          </a:p>
          <a:p>
            <a:pPr indent="-311150" lvl="0" marL="457200" rtl="0" algn="l">
              <a:lnSpc>
                <a:spcPct val="95000"/>
              </a:lnSpc>
              <a:spcBef>
                <a:spcPts val="0"/>
              </a:spcBef>
              <a:spcAft>
                <a:spcPts val="0"/>
              </a:spcAft>
              <a:buClr>
                <a:schemeClr val="dk1"/>
              </a:buClr>
              <a:buSzPts val="1300"/>
              <a:buChar char="●"/>
            </a:pPr>
            <a:r>
              <a:rPr b="1" lang="en" sz="1300">
                <a:solidFill>
                  <a:schemeClr val="dk1"/>
                </a:solidFill>
              </a:rPr>
              <a:t>Processing station:</a:t>
            </a:r>
            <a:r>
              <a:rPr lang="en" sz="1300">
                <a:solidFill>
                  <a:schemeClr val="dk1"/>
                </a:solidFill>
              </a:rPr>
              <a:t> finite servers + queue (waiting + service time)</a:t>
            </a:r>
            <a:endParaRPr sz="1300">
              <a:solidFill>
                <a:schemeClr val="dk1"/>
              </a:solidFill>
            </a:endParaRPr>
          </a:p>
          <a:p>
            <a:pPr indent="-311150" lvl="0" marL="457200" rtl="0" algn="l">
              <a:lnSpc>
                <a:spcPct val="95000"/>
              </a:lnSpc>
              <a:spcBef>
                <a:spcPts val="0"/>
              </a:spcBef>
              <a:spcAft>
                <a:spcPts val="0"/>
              </a:spcAft>
              <a:buClr>
                <a:schemeClr val="dk1"/>
              </a:buClr>
              <a:buSzPts val="1300"/>
              <a:buChar char="●"/>
            </a:pPr>
            <a:r>
              <a:rPr b="1" lang="en" sz="1300">
                <a:solidFill>
                  <a:schemeClr val="dk1"/>
                </a:solidFill>
              </a:rPr>
              <a:t>Delay station:</a:t>
            </a:r>
            <a:r>
              <a:rPr lang="en" sz="1300">
                <a:solidFill>
                  <a:schemeClr val="dk1"/>
                </a:solidFill>
              </a:rPr>
              <a:t> infinite servers, no queue (models network delays)</a:t>
            </a:r>
            <a:endParaRPr sz="1300">
              <a:solidFill>
                <a:schemeClr val="dk1"/>
              </a:solidFill>
            </a:endParaRPr>
          </a:p>
          <a:p>
            <a:pPr indent="0" lvl="0" marL="457200" rtl="0" algn="l">
              <a:lnSpc>
                <a:spcPct val="95000"/>
              </a:lnSpc>
              <a:spcBef>
                <a:spcPts val="0"/>
              </a:spcBef>
              <a:spcAft>
                <a:spcPts val="0"/>
              </a:spcAft>
              <a:buNone/>
            </a:pPr>
            <a:r>
              <a:t/>
            </a:r>
            <a:endParaRPr sz="1300">
              <a:solidFill>
                <a:schemeClr val="dk1"/>
              </a:solidFill>
            </a:endParaRPr>
          </a:p>
          <a:p>
            <a:pPr indent="0" lvl="0" marL="0" rtl="0" algn="l">
              <a:lnSpc>
                <a:spcPct val="95000"/>
              </a:lnSpc>
              <a:spcBef>
                <a:spcPts val="0"/>
              </a:spcBef>
              <a:spcAft>
                <a:spcPts val="0"/>
              </a:spcAft>
              <a:buNone/>
            </a:pPr>
            <a:r>
              <a:rPr b="1" lang="en" sz="1300">
                <a:solidFill>
                  <a:schemeClr val="dk1"/>
                </a:solidFill>
              </a:rPr>
              <a:t>Behavior:</a:t>
            </a:r>
            <a:endParaRPr b="1" sz="1300">
              <a:solidFill>
                <a:schemeClr val="dk1"/>
              </a:solidFill>
            </a:endParaRPr>
          </a:p>
          <a:p>
            <a:pPr indent="0" lvl="0" marL="0" rtl="0" algn="l">
              <a:lnSpc>
                <a:spcPct val="95000"/>
              </a:lnSpc>
              <a:spcBef>
                <a:spcPts val="0"/>
              </a:spcBef>
              <a:spcAft>
                <a:spcPts val="0"/>
              </a:spcAft>
              <a:buNone/>
            </a:pPr>
            <a:r>
              <a:rPr lang="en" sz="1300">
                <a:solidFill>
                  <a:schemeClr val="dk1"/>
                </a:solidFill>
              </a:rPr>
              <a:t>Requests arrive → wait → get processed → routed to next service</a:t>
            </a:r>
            <a:endParaRPr sz="1300">
              <a:solidFill>
                <a:schemeClr val="dk1"/>
              </a:solidFill>
            </a:endParaRPr>
          </a:p>
          <a:p>
            <a:pPr indent="0" lvl="0" marL="0" rtl="0" algn="l">
              <a:lnSpc>
                <a:spcPct val="95000"/>
              </a:lnSpc>
              <a:spcBef>
                <a:spcPts val="0"/>
              </a:spcBef>
              <a:spcAft>
                <a:spcPts val="0"/>
              </a:spcAft>
              <a:buNone/>
            </a:pPr>
            <a:r>
              <a:rPr lang="en" sz="1300">
                <a:solidFill>
                  <a:schemeClr val="dk1"/>
                </a:solidFill>
              </a:rPr>
              <a:t>Service times (S) ~ Exponential distribution</a:t>
            </a:r>
            <a:br>
              <a:rPr lang="en" sz="1300">
                <a:solidFill>
                  <a:schemeClr val="dk1"/>
                </a:solidFill>
              </a:rPr>
            </a:br>
            <a:r>
              <a:rPr lang="en" sz="1300">
                <a:solidFill>
                  <a:schemeClr val="dk1"/>
                </a:solidFill>
              </a:rPr>
              <a:t>Fork-Join mechanism → split requests into parallel tasks then recombine</a:t>
            </a:r>
            <a:br>
              <a:rPr lang="en" sz="1300">
                <a:solidFill>
                  <a:schemeClr val="dk1"/>
                </a:solidFill>
              </a:rPr>
            </a:br>
            <a:endParaRPr sz="1300">
              <a:solidFill>
                <a:schemeClr val="dk1"/>
              </a:solidFill>
            </a:endParaRPr>
          </a:p>
          <a:p>
            <a:pPr indent="0" lvl="0" marL="0" rtl="0" algn="l">
              <a:lnSpc>
                <a:spcPct val="95000"/>
              </a:lnSpc>
              <a:spcBef>
                <a:spcPts val="0"/>
              </a:spcBef>
              <a:spcAft>
                <a:spcPts val="0"/>
              </a:spcAft>
              <a:buClr>
                <a:schemeClr val="dk1"/>
              </a:buClr>
              <a:buSzPts val="688"/>
              <a:buFont typeface="Arial"/>
              <a:buNone/>
            </a:pPr>
            <a:r>
              <a:rPr b="1" lang="en" sz="1300">
                <a:solidFill>
                  <a:schemeClr val="dk1"/>
                </a:solidFill>
              </a:rPr>
              <a:t>Metrics collected:</a:t>
            </a:r>
            <a:r>
              <a:rPr lang="en" sz="1300">
                <a:solidFill>
                  <a:schemeClr val="dk1"/>
                </a:solidFill>
              </a:rPr>
              <a:t> Response Time (R) &amp; Utilization (U)</a:t>
            </a:r>
            <a:endParaRPr sz="1300">
              <a:solidFill>
                <a:schemeClr val="dk1"/>
              </a:solidFill>
            </a:endParaRPr>
          </a:p>
          <a:p>
            <a:pPr indent="0" lvl="0" marL="0" rtl="0" algn="l">
              <a:lnSpc>
                <a:spcPct val="95000"/>
              </a:lnSpc>
              <a:spcBef>
                <a:spcPts val="0"/>
              </a:spcBef>
              <a:spcAft>
                <a:spcPts val="1200"/>
              </a:spcAft>
              <a:buSzPts val="688"/>
              <a:buNone/>
            </a:pPr>
            <a:r>
              <a:t/>
            </a:r>
            <a:endParaRPr sz="1125"/>
          </a:p>
        </p:txBody>
      </p:sp>
      <p:sp>
        <p:nvSpPr>
          <p:cNvPr id="81" name="Google Shape;81;p17"/>
          <p:cNvSpPr/>
          <p:nvPr/>
        </p:nvSpPr>
        <p:spPr>
          <a:xfrm>
            <a:off x="6770837" y="881075"/>
            <a:ext cx="840300" cy="490200"/>
          </a:xfrm>
          <a:prstGeom prst="roundRect">
            <a:avLst>
              <a:gd fmla="val 16667" name="adj"/>
            </a:avLst>
          </a:prstGeom>
          <a:solidFill>
            <a:srgbClr val="FFE599"/>
          </a:solidFill>
          <a:ln cap="flat" cmpd="sng" w="9300">
            <a:solidFill>
              <a:schemeClr val="dk2"/>
            </a:solidFill>
            <a:prstDash val="solid"/>
            <a:round/>
            <a:headEnd len="sm" w="sm" type="none"/>
            <a:tailEnd len="sm" w="sm" type="none"/>
          </a:ln>
        </p:spPr>
        <p:txBody>
          <a:bodyPr anchorCtr="0" anchor="ctr" bIns="89450" lIns="89450" spcFirstLastPara="1" rIns="89450" wrap="square" tIns="89450">
            <a:noAutofit/>
          </a:bodyPr>
          <a:lstStyle/>
          <a:p>
            <a:pPr indent="0" lvl="0" marL="0" rtl="0" algn="ctr">
              <a:spcBef>
                <a:spcPts val="0"/>
              </a:spcBef>
              <a:spcAft>
                <a:spcPts val="0"/>
              </a:spcAft>
              <a:buNone/>
            </a:pPr>
            <a:r>
              <a:rPr lang="en" sz="1076">
                <a:solidFill>
                  <a:schemeClr val="dk1"/>
                </a:solidFill>
              </a:rPr>
              <a:t>Client</a:t>
            </a:r>
            <a:endParaRPr sz="1076">
              <a:solidFill>
                <a:schemeClr val="dk1"/>
              </a:solidFill>
            </a:endParaRPr>
          </a:p>
        </p:txBody>
      </p:sp>
      <p:sp>
        <p:nvSpPr>
          <p:cNvPr id="82" name="Google Shape;82;p17"/>
          <p:cNvSpPr/>
          <p:nvPr/>
        </p:nvSpPr>
        <p:spPr>
          <a:xfrm>
            <a:off x="6473381" y="1659886"/>
            <a:ext cx="1435200" cy="691500"/>
          </a:xfrm>
          <a:prstGeom prst="rect">
            <a:avLst/>
          </a:prstGeom>
          <a:solidFill>
            <a:srgbClr val="9FC5E8"/>
          </a:solidFill>
          <a:ln cap="flat" cmpd="sng" w="9300">
            <a:solidFill>
              <a:schemeClr val="dk2"/>
            </a:solidFill>
            <a:prstDash val="solid"/>
            <a:round/>
            <a:headEnd len="sm" w="sm" type="none"/>
            <a:tailEnd len="sm" w="sm" type="none"/>
          </a:ln>
        </p:spPr>
        <p:txBody>
          <a:bodyPr anchorCtr="0" anchor="ctr" bIns="89450" lIns="89450" spcFirstLastPara="1" rIns="89450" wrap="square" tIns="89450">
            <a:noAutofit/>
          </a:bodyPr>
          <a:lstStyle/>
          <a:p>
            <a:pPr indent="0" lvl="0" marL="0" rtl="0" algn="ctr">
              <a:spcBef>
                <a:spcPts val="0"/>
              </a:spcBef>
              <a:spcAft>
                <a:spcPts val="0"/>
              </a:spcAft>
              <a:buNone/>
            </a:pPr>
            <a:r>
              <a:rPr lang="en" sz="1076"/>
              <a:t>Gateway</a:t>
            </a:r>
            <a:endParaRPr sz="1076"/>
          </a:p>
          <a:p>
            <a:pPr indent="0" lvl="0" marL="0" rtl="0" algn="ctr">
              <a:spcBef>
                <a:spcPts val="0"/>
              </a:spcBef>
              <a:spcAft>
                <a:spcPts val="0"/>
              </a:spcAft>
              <a:buNone/>
            </a:pPr>
            <a:r>
              <a:rPr lang="en" sz="1076"/>
              <a:t>(Delay Station)</a:t>
            </a:r>
            <a:endParaRPr sz="1076"/>
          </a:p>
        </p:txBody>
      </p:sp>
      <p:sp>
        <p:nvSpPr>
          <p:cNvPr id="83" name="Google Shape;83;p17"/>
          <p:cNvSpPr/>
          <p:nvPr/>
        </p:nvSpPr>
        <p:spPr>
          <a:xfrm>
            <a:off x="5733875" y="2832566"/>
            <a:ext cx="1286100" cy="691500"/>
          </a:xfrm>
          <a:prstGeom prst="rect">
            <a:avLst/>
          </a:prstGeom>
          <a:solidFill>
            <a:srgbClr val="F6B26B"/>
          </a:solidFill>
          <a:ln cap="flat" cmpd="sng" w="9300">
            <a:solidFill>
              <a:schemeClr val="dk2"/>
            </a:solidFill>
            <a:prstDash val="solid"/>
            <a:round/>
            <a:headEnd len="sm" w="sm" type="none"/>
            <a:tailEnd len="sm" w="sm" type="none"/>
          </a:ln>
        </p:spPr>
        <p:txBody>
          <a:bodyPr anchorCtr="0" anchor="ctr" bIns="89450" lIns="89450" spcFirstLastPara="1" rIns="89450" wrap="square" tIns="89450">
            <a:noAutofit/>
          </a:bodyPr>
          <a:lstStyle/>
          <a:p>
            <a:pPr indent="0" lvl="0" marL="0" rtl="0" algn="ctr">
              <a:spcBef>
                <a:spcPts val="0"/>
              </a:spcBef>
              <a:spcAft>
                <a:spcPts val="0"/>
              </a:spcAft>
              <a:buNone/>
            </a:pPr>
            <a:r>
              <a:rPr lang="en" sz="1076"/>
              <a:t>Service A</a:t>
            </a:r>
            <a:endParaRPr sz="1076"/>
          </a:p>
          <a:p>
            <a:pPr indent="0" lvl="0" marL="0" rtl="0" algn="ctr">
              <a:spcBef>
                <a:spcPts val="0"/>
              </a:spcBef>
              <a:spcAft>
                <a:spcPts val="0"/>
              </a:spcAft>
              <a:buNone/>
            </a:pPr>
            <a:r>
              <a:rPr lang="en" sz="1076"/>
              <a:t>(Processing Station)</a:t>
            </a:r>
            <a:endParaRPr sz="1076"/>
          </a:p>
        </p:txBody>
      </p:sp>
      <p:sp>
        <p:nvSpPr>
          <p:cNvPr id="84" name="Google Shape;84;p17"/>
          <p:cNvSpPr/>
          <p:nvPr/>
        </p:nvSpPr>
        <p:spPr>
          <a:xfrm>
            <a:off x="7274448" y="2832566"/>
            <a:ext cx="1286100" cy="691500"/>
          </a:xfrm>
          <a:prstGeom prst="rect">
            <a:avLst/>
          </a:prstGeom>
          <a:solidFill>
            <a:srgbClr val="F6B26B"/>
          </a:solidFill>
          <a:ln cap="flat" cmpd="sng" w="9300">
            <a:solidFill>
              <a:schemeClr val="dk2"/>
            </a:solidFill>
            <a:prstDash val="solid"/>
            <a:round/>
            <a:headEnd len="sm" w="sm" type="none"/>
            <a:tailEnd len="sm" w="sm" type="none"/>
          </a:ln>
        </p:spPr>
        <p:txBody>
          <a:bodyPr anchorCtr="0" anchor="ctr" bIns="89450" lIns="89450" spcFirstLastPara="1" rIns="89450" wrap="square" tIns="89450">
            <a:noAutofit/>
          </a:bodyPr>
          <a:lstStyle/>
          <a:p>
            <a:pPr indent="0" lvl="0" marL="0" rtl="0" algn="ctr">
              <a:spcBef>
                <a:spcPts val="0"/>
              </a:spcBef>
              <a:spcAft>
                <a:spcPts val="0"/>
              </a:spcAft>
              <a:buNone/>
            </a:pPr>
            <a:r>
              <a:rPr lang="en" sz="1076"/>
              <a:t>Service B </a:t>
            </a:r>
            <a:endParaRPr sz="1076"/>
          </a:p>
          <a:p>
            <a:pPr indent="0" lvl="0" marL="0" rtl="0" algn="ctr">
              <a:spcBef>
                <a:spcPts val="0"/>
              </a:spcBef>
              <a:spcAft>
                <a:spcPts val="0"/>
              </a:spcAft>
              <a:buNone/>
            </a:pPr>
            <a:r>
              <a:rPr lang="en" sz="1076"/>
              <a:t>(Processing Station)</a:t>
            </a:r>
            <a:endParaRPr sz="1076"/>
          </a:p>
        </p:txBody>
      </p:sp>
      <p:sp>
        <p:nvSpPr>
          <p:cNvPr id="85" name="Google Shape;85;p17"/>
          <p:cNvSpPr/>
          <p:nvPr/>
        </p:nvSpPr>
        <p:spPr>
          <a:xfrm>
            <a:off x="6648328" y="4154170"/>
            <a:ext cx="1006200" cy="560400"/>
          </a:xfrm>
          <a:prstGeom prst="rect">
            <a:avLst/>
          </a:prstGeom>
          <a:solidFill>
            <a:srgbClr val="FFF2CC"/>
          </a:solidFill>
          <a:ln cap="flat" cmpd="sng" w="9300">
            <a:solidFill>
              <a:schemeClr val="dk2"/>
            </a:solidFill>
            <a:prstDash val="solid"/>
            <a:round/>
            <a:headEnd len="sm" w="sm" type="none"/>
            <a:tailEnd len="sm" w="sm" type="none"/>
          </a:ln>
        </p:spPr>
        <p:txBody>
          <a:bodyPr anchorCtr="0" anchor="ctr" bIns="89450" lIns="89450" spcFirstLastPara="1" rIns="89450" wrap="square" tIns="89450">
            <a:noAutofit/>
          </a:bodyPr>
          <a:lstStyle/>
          <a:p>
            <a:pPr indent="0" lvl="0" marL="0" rtl="0" algn="ctr">
              <a:spcBef>
                <a:spcPts val="0"/>
              </a:spcBef>
              <a:spcAft>
                <a:spcPts val="0"/>
              </a:spcAft>
              <a:buNone/>
            </a:pPr>
            <a:r>
              <a:rPr lang="en" sz="1076"/>
              <a:t>Joint Response</a:t>
            </a:r>
            <a:endParaRPr sz="1076"/>
          </a:p>
        </p:txBody>
      </p:sp>
      <p:cxnSp>
        <p:nvCxnSpPr>
          <p:cNvPr id="86" name="Google Shape;86;p17"/>
          <p:cNvCxnSpPr>
            <a:stCxn id="81" idx="2"/>
            <a:endCxn id="82" idx="0"/>
          </p:cNvCxnSpPr>
          <p:nvPr/>
        </p:nvCxnSpPr>
        <p:spPr>
          <a:xfrm>
            <a:off x="7190987" y="1371275"/>
            <a:ext cx="0" cy="288600"/>
          </a:xfrm>
          <a:prstGeom prst="straightConnector1">
            <a:avLst/>
          </a:prstGeom>
          <a:noFill/>
          <a:ln cap="flat" cmpd="sng" w="9300">
            <a:solidFill>
              <a:schemeClr val="dk2"/>
            </a:solidFill>
            <a:prstDash val="solid"/>
            <a:round/>
            <a:headEnd len="med" w="med" type="none"/>
            <a:tailEnd len="med" w="med" type="triangle"/>
          </a:ln>
        </p:spPr>
      </p:cxnSp>
      <p:cxnSp>
        <p:nvCxnSpPr>
          <p:cNvPr id="87" name="Google Shape;87;p17"/>
          <p:cNvCxnSpPr>
            <a:stCxn id="82" idx="2"/>
            <a:endCxn id="83" idx="0"/>
          </p:cNvCxnSpPr>
          <p:nvPr/>
        </p:nvCxnSpPr>
        <p:spPr>
          <a:xfrm flipH="1">
            <a:off x="6376781" y="2351386"/>
            <a:ext cx="814200" cy="481200"/>
          </a:xfrm>
          <a:prstGeom prst="straightConnector1">
            <a:avLst/>
          </a:prstGeom>
          <a:noFill/>
          <a:ln cap="flat" cmpd="sng" w="9300">
            <a:solidFill>
              <a:schemeClr val="dk2"/>
            </a:solidFill>
            <a:prstDash val="solid"/>
            <a:round/>
            <a:headEnd len="med" w="med" type="none"/>
            <a:tailEnd len="med" w="med" type="triangle"/>
          </a:ln>
        </p:spPr>
      </p:cxnSp>
      <p:cxnSp>
        <p:nvCxnSpPr>
          <p:cNvPr id="88" name="Google Shape;88;p17"/>
          <p:cNvCxnSpPr>
            <a:stCxn id="82" idx="2"/>
            <a:endCxn id="84" idx="0"/>
          </p:cNvCxnSpPr>
          <p:nvPr/>
        </p:nvCxnSpPr>
        <p:spPr>
          <a:xfrm>
            <a:off x="7190981" y="2351386"/>
            <a:ext cx="726600" cy="481200"/>
          </a:xfrm>
          <a:prstGeom prst="straightConnector1">
            <a:avLst/>
          </a:prstGeom>
          <a:noFill/>
          <a:ln cap="flat" cmpd="sng" w="9300">
            <a:solidFill>
              <a:schemeClr val="dk2"/>
            </a:solidFill>
            <a:prstDash val="solid"/>
            <a:round/>
            <a:headEnd len="med" w="med" type="none"/>
            <a:tailEnd len="med" w="med" type="triangle"/>
          </a:ln>
        </p:spPr>
      </p:cxnSp>
      <p:cxnSp>
        <p:nvCxnSpPr>
          <p:cNvPr id="89" name="Google Shape;89;p17"/>
          <p:cNvCxnSpPr>
            <a:stCxn id="83" idx="2"/>
            <a:endCxn id="85" idx="0"/>
          </p:cNvCxnSpPr>
          <p:nvPr/>
        </p:nvCxnSpPr>
        <p:spPr>
          <a:xfrm>
            <a:off x="6376925" y="3524066"/>
            <a:ext cx="774600" cy="630000"/>
          </a:xfrm>
          <a:prstGeom prst="straightConnector1">
            <a:avLst/>
          </a:prstGeom>
          <a:noFill/>
          <a:ln cap="flat" cmpd="sng" w="9300">
            <a:solidFill>
              <a:schemeClr val="dk2"/>
            </a:solidFill>
            <a:prstDash val="solid"/>
            <a:round/>
            <a:headEnd len="med" w="med" type="none"/>
            <a:tailEnd len="med" w="med" type="triangle"/>
          </a:ln>
        </p:spPr>
      </p:cxnSp>
      <p:cxnSp>
        <p:nvCxnSpPr>
          <p:cNvPr id="90" name="Google Shape;90;p17"/>
          <p:cNvCxnSpPr>
            <a:stCxn id="84" idx="2"/>
            <a:endCxn id="85" idx="0"/>
          </p:cNvCxnSpPr>
          <p:nvPr/>
        </p:nvCxnSpPr>
        <p:spPr>
          <a:xfrm flipH="1">
            <a:off x="7151298" y="3524066"/>
            <a:ext cx="766200" cy="630000"/>
          </a:xfrm>
          <a:prstGeom prst="straightConnector1">
            <a:avLst/>
          </a:prstGeom>
          <a:noFill/>
          <a:ln cap="flat" cmpd="sng" w="9300">
            <a:solidFill>
              <a:schemeClr val="dk2"/>
            </a:solidFill>
            <a:prstDash val="solid"/>
            <a:round/>
            <a:headEnd len="med" w="med" type="none"/>
            <a:tailEnd len="med" w="med" type="triangle"/>
          </a:ln>
        </p:spPr>
      </p:cxnSp>
      <p:sp>
        <p:nvSpPr>
          <p:cNvPr id="91" name="Google Shape;91;p17"/>
          <p:cNvSpPr txBox="1"/>
          <p:nvPr/>
        </p:nvSpPr>
        <p:spPr>
          <a:xfrm>
            <a:off x="5812629" y="2486366"/>
            <a:ext cx="603300" cy="346200"/>
          </a:xfrm>
          <a:prstGeom prst="rect">
            <a:avLst/>
          </a:prstGeom>
          <a:noFill/>
          <a:ln>
            <a:noFill/>
          </a:ln>
        </p:spPr>
        <p:txBody>
          <a:bodyPr anchorCtr="0" anchor="t" bIns="89450" lIns="89450" spcFirstLastPara="1" rIns="89450" wrap="square" tIns="89450">
            <a:spAutoFit/>
          </a:bodyPr>
          <a:lstStyle/>
          <a:p>
            <a:pPr indent="0" lvl="0" marL="0" rtl="0" algn="l">
              <a:spcBef>
                <a:spcPts val="0"/>
              </a:spcBef>
              <a:spcAft>
                <a:spcPts val="0"/>
              </a:spcAft>
              <a:buNone/>
            </a:pPr>
            <a:r>
              <a:rPr lang="en" sz="1076">
                <a:solidFill>
                  <a:schemeClr val="dk2"/>
                </a:solidFill>
              </a:rPr>
              <a:t>Queue</a:t>
            </a:r>
            <a:endParaRPr sz="1076">
              <a:solidFill>
                <a:schemeClr val="dk2"/>
              </a:solidFill>
            </a:endParaRPr>
          </a:p>
        </p:txBody>
      </p:sp>
      <p:sp>
        <p:nvSpPr>
          <p:cNvPr id="92" name="Google Shape;92;p17"/>
          <p:cNvSpPr txBox="1"/>
          <p:nvPr/>
        </p:nvSpPr>
        <p:spPr>
          <a:xfrm>
            <a:off x="7908565" y="2486365"/>
            <a:ext cx="603300" cy="346200"/>
          </a:xfrm>
          <a:prstGeom prst="rect">
            <a:avLst/>
          </a:prstGeom>
          <a:noFill/>
          <a:ln>
            <a:noFill/>
          </a:ln>
        </p:spPr>
        <p:txBody>
          <a:bodyPr anchorCtr="0" anchor="t" bIns="89450" lIns="89450" spcFirstLastPara="1" rIns="89450" wrap="square" tIns="89450">
            <a:spAutoFit/>
          </a:bodyPr>
          <a:lstStyle/>
          <a:p>
            <a:pPr indent="0" lvl="0" marL="0" rtl="0" algn="l">
              <a:spcBef>
                <a:spcPts val="0"/>
              </a:spcBef>
              <a:spcAft>
                <a:spcPts val="0"/>
              </a:spcAft>
              <a:buNone/>
            </a:pPr>
            <a:r>
              <a:rPr lang="en" sz="1076">
                <a:solidFill>
                  <a:schemeClr val="dk2"/>
                </a:solidFill>
              </a:rPr>
              <a:t>Queue</a:t>
            </a:r>
            <a:endParaRPr sz="1369"/>
          </a:p>
        </p:txBody>
      </p:sp>
      <p:cxnSp>
        <p:nvCxnSpPr>
          <p:cNvPr id="93" name="Google Shape;93;p17"/>
          <p:cNvCxnSpPr>
            <a:stCxn id="85" idx="3"/>
          </p:cNvCxnSpPr>
          <p:nvPr/>
        </p:nvCxnSpPr>
        <p:spPr>
          <a:xfrm flipH="1" rot="10800000">
            <a:off x="7654528" y="1111270"/>
            <a:ext cx="1120800" cy="3323100"/>
          </a:xfrm>
          <a:prstGeom prst="bentConnector2">
            <a:avLst/>
          </a:prstGeom>
          <a:noFill/>
          <a:ln cap="flat" cmpd="sng" w="9525">
            <a:solidFill>
              <a:schemeClr val="dk2"/>
            </a:solidFill>
            <a:prstDash val="solid"/>
            <a:round/>
            <a:headEnd len="med" w="med" type="none"/>
            <a:tailEnd len="med" w="med" type="none"/>
          </a:ln>
        </p:spPr>
      </p:cxnSp>
      <p:cxnSp>
        <p:nvCxnSpPr>
          <p:cNvPr id="94" name="Google Shape;94;p17"/>
          <p:cNvCxnSpPr>
            <a:endCxn id="81" idx="3"/>
          </p:cNvCxnSpPr>
          <p:nvPr/>
        </p:nvCxnSpPr>
        <p:spPr>
          <a:xfrm flipH="1">
            <a:off x="7611137" y="1120175"/>
            <a:ext cx="1173000" cy="6000"/>
          </a:xfrm>
          <a:prstGeom prst="straightConnector1">
            <a:avLst/>
          </a:prstGeom>
          <a:noFill/>
          <a:ln cap="flat" cmpd="sng" w="9525">
            <a:solidFill>
              <a:schemeClr val="dk2"/>
            </a:solidFill>
            <a:prstDash val="solid"/>
            <a:round/>
            <a:headEnd len="med" w="med" type="none"/>
            <a:tailEnd len="med" w="med" type="triangle"/>
          </a:ln>
        </p:spPr>
      </p:cxnSp>
      <p:sp>
        <p:nvSpPr>
          <p:cNvPr id="95" name="Google Shape;95;p17"/>
          <p:cNvSpPr txBox="1"/>
          <p:nvPr>
            <p:ph type="title"/>
          </p:nvPr>
        </p:nvSpPr>
        <p:spPr>
          <a:xfrm>
            <a:off x="263525" y="100850"/>
            <a:ext cx="8520600" cy="531600"/>
          </a:xfrm>
          <a:prstGeom prst="rect">
            <a:avLst/>
          </a:prstGeom>
          <a:solidFill>
            <a:srgbClr val="FFD966"/>
          </a:solidFill>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1800">
                <a:latin typeface="Impact"/>
                <a:ea typeface="Impact"/>
                <a:cs typeface="Impact"/>
                <a:sym typeface="Impact"/>
              </a:rPr>
              <a:t>RQ1: QUEUEING NETWORK</a:t>
            </a:r>
            <a:endParaRPr b="1">
              <a:latin typeface="Impact"/>
              <a:ea typeface="Impact"/>
              <a:cs typeface="Impact"/>
              <a:sym typeface="Impac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249975"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0126"/>
              <a:buFont typeface="Arial"/>
              <a:buNone/>
            </a:pPr>
            <a:r>
              <a:rPr b="1" lang="en" sz="2194">
                <a:latin typeface="Impact"/>
                <a:ea typeface="Impact"/>
                <a:cs typeface="Impact"/>
                <a:sym typeface="Impact"/>
              </a:rPr>
              <a:t>P</a:t>
            </a:r>
            <a:r>
              <a:rPr b="1" lang="en" sz="2044">
                <a:latin typeface="Impact"/>
                <a:ea typeface="Impact"/>
                <a:cs typeface="Impact"/>
                <a:sym typeface="Impact"/>
              </a:rPr>
              <a:t>ERFORMANCE </a:t>
            </a:r>
            <a:r>
              <a:rPr b="1" lang="en" sz="2194">
                <a:latin typeface="Impact"/>
                <a:ea typeface="Impact"/>
                <a:cs typeface="Impact"/>
                <a:sym typeface="Impact"/>
              </a:rPr>
              <a:t>M</a:t>
            </a:r>
            <a:r>
              <a:rPr b="1" lang="en" sz="2044">
                <a:latin typeface="Impact"/>
                <a:ea typeface="Impact"/>
                <a:cs typeface="Impact"/>
                <a:sym typeface="Impact"/>
              </a:rPr>
              <a:t>ODELS OF </a:t>
            </a:r>
            <a:r>
              <a:rPr b="1" lang="en" sz="2194">
                <a:latin typeface="Impact"/>
                <a:ea typeface="Impact"/>
                <a:cs typeface="Impact"/>
                <a:sym typeface="Impact"/>
              </a:rPr>
              <a:t>D</a:t>
            </a:r>
            <a:r>
              <a:rPr b="1" lang="en" sz="2044">
                <a:latin typeface="Impact"/>
                <a:ea typeface="Impact"/>
                <a:cs typeface="Impact"/>
                <a:sym typeface="Impact"/>
              </a:rPr>
              <a:t>ESIGN </a:t>
            </a:r>
            <a:r>
              <a:rPr b="1" lang="en" sz="2194">
                <a:latin typeface="Impact"/>
                <a:ea typeface="Impact"/>
                <a:cs typeface="Impact"/>
                <a:sym typeface="Impact"/>
              </a:rPr>
              <a:t>P</a:t>
            </a:r>
            <a:r>
              <a:rPr b="1" lang="en" sz="2044">
                <a:latin typeface="Impact"/>
                <a:ea typeface="Impact"/>
                <a:cs typeface="Impact"/>
                <a:sym typeface="Impact"/>
              </a:rPr>
              <a:t>ATTERNS</a:t>
            </a:r>
            <a:endParaRPr b="1" sz="2044">
              <a:latin typeface="Impact"/>
              <a:ea typeface="Impact"/>
              <a:cs typeface="Impact"/>
              <a:sym typeface="Impact"/>
            </a:endParaRPr>
          </a:p>
          <a:p>
            <a:pPr indent="0" lvl="0" marL="0" rtl="0" algn="l">
              <a:spcBef>
                <a:spcPts val="0"/>
              </a:spcBef>
              <a:spcAft>
                <a:spcPts val="0"/>
              </a:spcAft>
              <a:buNone/>
            </a:pPr>
            <a:r>
              <a:t/>
            </a:r>
            <a:endParaRPr/>
          </a:p>
        </p:txBody>
      </p:sp>
      <p:sp>
        <p:nvSpPr>
          <p:cNvPr id="101" name="Google Shape;101;p18"/>
          <p:cNvSpPr/>
          <p:nvPr/>
        </p:nvSpPr>
        <p:spPr>
          <a:xfrm>
            <a:off x="349950" y="6611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50">
                <a:solidFill>
                  <a:schemeClr val="dk1"/>
                </a:solidFill>
              </a:rPr>
              <a:t>  Anti-corruption Layer</a:t>
            </a:r>
            <a:endParaRPr b="1" sz="1050">
              <a:solidFill>
                <a:schemeClr val="dk1"/>
              </a:solidFill>
            </a:endParaRPr>
          </a:p>
          <a:p>
            <a:pPr indent="0" lvl="0" marL="0" rtl="0" algn="ctr">
              <a:spcBef>
                <a:spcPts val="0"/>
              </a:spcBef>
              <a:spcAft>
                <a:spcPts val="0"/>
              </a:spcAft>
              <a:buNone/>
            </a:pPr>
            <a:r>
              <a:t/>
            </a:r>
            <a:endParaRPr/>
          </a:p>
        </p:txBody>
      </p:sp>
      <p:sp>
        <p:nvSpPr>
          <p:cNvPr id="102" name="Google Shape;102;p18"/>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103" name="Google Shape;103;p18"/>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104" name="Google Shape;104;p18"/>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105" name="Google Shape;105;p18"/>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106" name="Google Shape;106;p18"/>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107" name="Google Shape;107;p18"/>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108" name="Google Shape;108;p18"/>
          <p:cNvGrpSpPr/>
          <p:nvPr/>
        </p:nvGrpSpPr>
        <p:grpSpPr>
          <a:xfrm>
            <a:off x="3366475" y="835175"/>
            <a:ext cx="5331925" cy="3597653"/>
            <a:chOff x="3366475" y="835175"/>
            <a:chExt cx="5331925" cy="3597653"/>
          </a:xfrm>
        </p:grpSpPr>
        <p:sp>
          <p:nvSpPr>
            <p:cNvPr id="109" name="Google Shape;109;p18"/>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New microservices must communicate with legacy or incompatible systems, risking inconsistent data and poor integration.</a:t>
              </a:r>
              <a:endParaRPr sz="1228">
                <a:solidFill>
                  <a:schemeClr val="dk1"/>
                </a:solidFill>
              </a:endParaRPr>
            </a:p>
          </p:txBody>
        </p:sp>
        <p:pic>
          <p:nvPicPr>
            <p:cNvPr id="110" name="Google Shape;110;p18"/>
            <p:cNvPicPr preferRelativeResize="0"/>
            <p:nvPr/>
          </p:nvPicPr>
          <p:blipFill rotWithShape="1">
            <a:blip r:embed="rId3">
              <a:alphaModFix/>
            </a:blip>
            <a:srcRect b="4113" l="0" r="0" t="0"/>
            <a:stretch/>
          </p:blipFill>
          <p:spPr>
            <a:xfrm>
              <a:off x="3366475" y="835175"/>
              <a:ext cx="4901450" cy="1942950"/>
            </a:xfrm>
            <a:prstGeom prst="rect">
              <a:avLst/>
            </a:prstGeom>
            <a:noFill/>
            <a:ln>
              <a:noFill/>
            </a:ln>
          </p:spPr>
        </p:pic>
        <p:sp>
          <p:nvSpPr>
            <p:cNvPr id="111" name="Google Shape;111;p18"/>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Adds a translation / adapter layer between systems, ensuring clean communication — but adds slight latency overhead.</a:t>
              </a:r>
              <a:endParaRPr sz="1228">
                <a:solidFill>
                  <a:schemeClr val="dk1"/>
                </a:solidFill>
              </a:endParaRPr>
            </a:p>
          </p:txBody>
        </p:sp>
        <p:sp>
          <p:nvSpPr>
            <p:cNvPr id="112" name="Google Shape;112;p18"/>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113" name="Google Shape;113;p18"/>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1972">
                <a:latin typeface="Impact"/>
                <a:ea typeface="Impact"/>
                <a:cs typeface="Impact"/>
                <a:sym typeface="Impact"/>
              </a:rPr>
              <a:t>P</a:t>
            </a:r>
            <a:r>
              <a:rPr b="1" lang="en" sz="1822">
                <a:latin typeface="Impact"/>
                <a:ea typeface="Impact"/>
                <a:cs typeface="Impact"/>
                <a:sym typeface="Impact"/>
              </a:rPr>
              <a:t>ERFORMANCE </a:t>
            </a:r>
            <a:r>
              <a:rPr b="1" lang="en" sz="1972">
                <a:latin typeface="Impact"/>
                <a:ea typeface="Impact"/>
                <a:cs typeface="Impact"/>
                <a:sym typeface="Impact"/>
              </a:rPr>
              <a:t>M</a:t>
            </a:r>
            <a:r>
              <a:rPr b="1" lang="en" sz="1822">
                <a:latin typeface="Impact"/>
                <a:ea typeface="Impact"/>
                <a:cs typeface="Impact"/>
                <a:sym typeface="Impact"/>
              </a:rPr>
              <a:t>ODELS OF </a:t>
            </a:r>
            <a:r>
              <a:rPr b="1" lang="en" sz="1972">
                <a:latin typeface="Impact"/>
                <a:ea typeface="Impact"/>
                <a:cs typeface="Impact"/>
                <a:sym typeface="Impact"/>
              </a:rPr>
              <a:t>D</a:t>
            </a:r>
            <a:r>
              <a:rPr b="1" lang="en" sz="1822">
                <a:latin typeface="Impact"/>
                <a:ea typeface="Impact"/>
                <a:cs typeface="Impact"/>
                <a:sym typeface="Impact"/>
              </a:rPr>
              <a:t>ESIGN </a:t>
            </a:r>
            <a:r>
              <a:rPr b="1" lang="en" sz="1972">
                <a:latin typeface="Impact"/>
                <a:ea typeface="Impact"/>
                <a:cs typeface="Impact"/>
                <a:sym typeface="Impact"/>
              </a:rPr>
              <a:t>P</a:t>
            </a:r>
            <a:r>
              <a:rPr b="1" lang="en" sz="1822">
                <a:latin typeface="Impact"/>
                <a:ea typeface="Impact"/>
                <a:cs typeface="Impact"/>
                <a:sym typeface="Impact"/>
              </a:rPr>
              <a:t>ATTERNS</a:t>
            </a:r>
            <a:endParaRPr b="1" sz="1822">
              <a:latin typeface="Impact"/>
              <a:ea typeface="Impact"/>
              <a:cs typeface="Impact"/>
              <a:sym typeface="Impact"/>
            </a:endParaRPr>
          </a:p>
          <a:p>
            <a:pPr indent="0" lvl="0" marL="0" rtl="0" algn="l">
              <a:spcBef>
                <a:spcPts val="0"/>
              </a:spcBef>
              <a:spcAft>
                <a:spcPts val="0"/>
              </a:spcAft>
              <a:buNone/>
            </a:pPr>
            <a:r>
              <a:t/>
            </a:r>
            <a:endParaRPr/>
          </a:p>
        </p:txBody>
      </p:sp>
      <p:sp>
        <p:nvSpPr>
          <p:cNvPr id="119" name="Google Shape;119;p19"/>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 </a:t>
            </a:r>
            <a:r>
              <a:rPr b="1" lang="en" sz="1050">
                <a:solidFill>
                  <a:schemeClr val="dk1"/>
                </a:solidFill>
              </a:rPr>
              <a:t> </a:t>
            </a:r>
            <a:r>
              <a:rPr lang="en" sz="1050">
                <a:solidFill>
                  <a:schemeClr val="dk1"/>
                </a:solidFill>
              </a:rPr>
              <a:t>Anti-corruption Layer</a:t>
            </a:r>
            <a:endParaRPr sz="1050">
              <a:solidFill>
                <a:schemeClr val="dk1"/>
              </a:solidFill>
            </a:endParaRPr>
          </a:p>
          <a:p>
            <a:pPr indent="0" lvl="0" marL="0" rtl="0" algn="ctr">
              <a:spcBef>
                <a:spcPts val="0"/>
              </a:spcBef>
              <a:spcAft>
                <a:spcPts val="0"/>
              </a:spcAft>
              <a:buNone/>
            </a:pPr>
            <a:r>
              <a:t/>
            </a:r>
            <a:endParaRPr/>
          </a:p>
        </p:txBody>
      </p:sp>
      <p:sp>
        <p:nvSpPr>
          <p:cNvPr id="120" name="Google Shape;120;p19"/>
          <p:cNvSpPr/>
          <p:nvPr/>
        </p:nvSpPr>
        <p:spPr>
          <a:xfrm>
            <a:off x="349950" y="12019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Backends for Frontends</a:t>
            </a:r>
            <a:endParaRPr b="1" sz="1050">
              <a:solidFill>
                <a:schemeClr val="dk1"/>
              </a:solidFill>
            </a:endParaRPr>
          </a:p>
          <a:p>
            <a:pPr indent="0" lvl="0" marL="0" rtl="0" algn="ctr">
              <a:spcBef>
                <a:spcPts val="0"/>
              </a:spcBef>
              <a:spcAft>
                <a:spcPts val="0"/>
              </a:spcAft>
              <a:buNone/>
            </a:pPr>
            <a:r>
              <a:t/>
            </a:r>
            <a:endParaRPr/>
          </a:p>
        </p:txBody>
      </p:sp>
      <p:sp>
        <p:nvSpPr>
          <p:cNvPr id="121" name="Google Shape;121;p19"/>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122" name="Google Shape;122;p19"/>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123" name="Google Shape;123;p19"/>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124" name="Google Shape;124;p19"/>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125" name="Google Shape;125;p19"/>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126" name="Google Shape;126;p19"/>
          <p:cNvGrpSpPr/>
          <p:nvPr/>
        </p:nvGrpSpPr>
        <p:grpSpPr>
          <a:xfrm>
            <a:off x="3366475" y="661150"/>
            <a:ext cx="5331925" cy="3771678"/>
            <a:chOff x="3366475" y="661150"/>
            <a:chExt cx="5331925" cy="3771678"/>
          </a:xfrm>
        </p:grpSpPr>
        <p:sp>
          <p:nvSpPr>
            <p:cNvPr id="127" name="Google Shape;127;p19"/>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One backend serving multiple client types (web, mobile, IoT) becomes overloaded with interface-specific logic.</a:t>
              </a:r>
              <a:endParaRPr sz="1228">
                <a:solidFill>
                  <a:schemeClr val="dk1"/>
                </a:solidFill>
              </a:endParaRPr>
            </a:p>
          </p:txBody>
        </p:sp>
        <p:sp>
          <p:nvSpPr>
            <p:cNvPr id="128" name="Google Shape;128;p19"/>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Provides a dedicated backend per client type, reducing complexity and improving response times for each interface.</a:t>
              </a:r>
              <a:endParaRPr sz="1228">
                <a:solidFill>
                  <a:schemeClr val="dk1"/>
                </a:solidFill>
              </a:endParaRPr>
            </a:p>
          </p:txBody>
        </p:sp>
        <p:sp>
          <p:nvSpPr>
            <p:cNvPr id="129" name="Google Shape;129;p19"/>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130" name="Google Shape;130;p19"/>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131" name="Google Shape;131;p19"/>
            <p:cNvPicPr preferRelativeResize="0"/>
            <p:nvPr/>
          </p:nvPicPr>
          <p:blipFill>
            <a:blip r:embed="rId3">
              <a:alphaModFix/>
            </a:blip>
            <a:stretch>
              <a:fillRect/>
            </a:stretch>
          </p:blipFill>
          <p:spPr>
            <a:xfrm>
              <a:off x="4456350" y="661150"/>
              <a:ext cx="2793833" cy="2069506"/>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000">
                <a:latin typeface="Impact"/>
                <a:ea typeface="Impact"/>
                <a:cs typeface="Impact"/>
                <a:sym typeface="Impact"/>
              </a:rPr>
              <a:t>PERFORMANCE MODELS OF DESIGN PATTERNS</a:t>
            </a:r>
            <a:endParaRPr b="1" sz="2000">
              <a:latin typeface="Impact"/>
              <a:ea typeface="Impact"/>
              <a:cs typeface="Impact"/>
              <a:sym typeface="Impact"/>
            </a:endParaRPr>
          </a:p>
          <a:p>
            <a:pPr indent="0" lvl="0" marL="0" rtl="0" algn="l">
              <a:spcBef>
                <a:spcPts val="0"/>
              </a:spcBef>
              <a:spcAft>
                <a:spcPts val="0"/>
              </a:spcAft>
              <a:buNone/>
            </a:pPr>
            <a:r>
              <a:t/>
            </a:r>
            <a:endParaRPr/>
          </a:p>
        </p:txBody>
      </p:sp>
      <p:sp>
        <p:nvSpPr>
          <p:cNvPr id="137" name="Google Shape;137;p20"/>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138" name="Google Shape;138;p20"/>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139" name="Google Shape;139;p20"/>
          <p:cNvSpPr/>
          <p:nvPr/>
        </p:nvSpPr>
        <p:spPr>
          <a:xfrm>
            <a:off x="349950" y="1742750"/>
            <a:ext cx="1828500" cy="648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Command and Query Responsibility Segregation</a:t>
            </a:r>
            <a:endParaRPr b="1" sz="1050">
              <a:solidFill>
                <a:schemeClr val="dk1"/>
              </a:solidFill>
            </a:endParaRPr>
          </a:p>
          <a:p>
            <a:pPr indent="0" lvl="0" marL="0" rtl="0" algn="ctr">
              <a:spcBef>
                <a:spcPts val="0"/>
              </a:spcBef>
              <a:spcAft>
                <a:spcPts val="0"/>
              </a:spcAft>
              <a:buNone/>
            </a:pPr>
            <a:r>
              <a:t/>
            </a:r>
            <a:endParaRPr/>
          </a:p>
        </p:txBody>
      </p:sp>
      <p:sp>
        <p:nvSpPr>
          <p:cNvPr id="140" name="Google Shape;140;p20"/>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141" name="Google Shape;141;p20"/>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142" name="Google Shape;142;p20"/>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143" name="Google Shape;143;p20"/>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144" name="Google Shape;144;p20"/>
          <p:cNvGrpSpPr/>
          <p:nvPr/>
        </p:nvGrpSpPr>
        <p:grpSpPr>
          <a:xfrm>
            <a:off x="3366475" y="959263"/>
            <a:ext cx="5589300" cy="4014818"/>
            <a:chOff x="3366475" y="959263"/>
            <a:chExt cx="5589300" cy="4014818"/>
          </a:xfrm>
        </p:grpSpPr>
        <p:sp>
          <p:nvSpPr>
            <p:cNvPr id="145" name="Google Shape;145;p20"/>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A single data model handling both reads and writes limits scalability and creates contention.</a:t>
              </a:r>
              <a:endParaRPr sz="1228">
                <a:solidFill>
                  <a:schemeClr val="dk1"/>
                </a:solidFill>
              </a:endParaRPr>
            </a:p>
          </p:txBody>
        </p:sp>
        <p:sp>
          <p:nvSpPr>
            <p:cNvPr id="146" name="Google Shape;146;p20"/>
            <p:cNvSpPr/>
            <p:nvPr/>
          </p:nvSpPr>
          <p:spPr>
            <a:xfrm>
              <a:off x="6305900" y="3310581"/>
              <a:ext cx="2392500" cy="16635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Splits read and write operations into separate models — either </a:t>
              </a:r>
              <a:r>
                <a:rPr b="1" lang="en" sz="1100">
                  <a:solidFill>
                    <a:schemeClr val="dk1"/>
                  </a:solidFill>
                </a:rPr>
                <a:t>software-separated (same hardware)</a:t>
              </a:r>
              <a:r>
                <a:rPr lang="en" sz="1100">
                  <a:solidFill>
                    <a:schemeClr val="dk1"/>
                  </a:solidFill>
                </a:rPr>
                <a:t> or </a:t>
              </a:r>
              <a:r>
                <a:rPr b="1" lang="en" sz="1100">
                  <a:solidFill>
                    <a:schemeClr val="dk1"/>
                  </a:solidFill>
                </a:rPr>
                <a:t>hardware-separated (different nodes)</a:t>
              </a:r>
              <a:r>
                <a:rPr lang="en" sz="1100">
                  <a:solidFill>
                    <a:schemeClr val="dk1"/>
                  </a:solidFill>
                </a:rPr>
                <a:t>.</a:t>
              </a:r>
              <a:endParaRPr sz="1100">
                <a:solidFill>
                  <a:schemeClr val="dk1"/>
                </a:solidFill>
              </a:endParaRPr>
            </a:p>
            <a:p>
              <a:pPr indent="0" lvl="0" marL="0" rtl="0" algn="l">
                <a:spcBef>
                  <a:spcPts val="0"/>
                </a:spcBef>
                <a:spcAft>
                  <a:spcPts val="0"/>
                </a:spcAft>
                <a:buNone/>
              </a:pPr>
              <a:r>
                <a:rPr lang="en" sz="1100">
                  <a:solidFill>
                    <a:schemeClr val="dk1"/>
                  </a:solidFill>
                </a:rPr>
                <a:t>Software split improves frequent-write performance; hardware split scales better for read-heavy workloads.</a:t>
              </a:r>
              <a:endParaRPr sz="1228">
                <a:solidFill>
                  <a:schemeClr val="dk1"/>
                </a:solidFill>
              </a:endParaRPr>
            </a:p>
          </p:txBody>
        </p:sp>
        <p:sp>
          <p:nvSpPr>
            <p:cNvPr id="147" name="Google Shape;147;p20"/>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148" name="Google Shape;148;p20"/>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149" name="Google Shape;149;p20"/>
            <p:cNvPicPr preferRelativeResize="0"/>
            <p:nvPr/>
          </p:nvPicPr>
          <p:blipFill>
            <a:blip r:embed="rId3">
              <a:alphaModFix/>
            </a:blip>
            <a:stretch>
              <a:fillRect/>
            </a:stretch>
          </p:blipFill>
          <p:spPr>
            <a:xfrm>
              <a:off x="3366475" y="959263"/>
              <a:ext cx="2542027" cy="1356813"/>
            </a:xfrm>
            <a:prstGeom prst="rect">
              <a:avLst/>
            </a:prstGeom>
            <a:noFill/>
            <a:ln>
              <a:noFill/>
            </a:ln>
          </p:spPr>
        </p:pic>
        <p:sp>
          <p:nvSpPr>
            <p:cNvPr id="150" name="Google Shape;150;p20"/>
            <p:cNvSpPr txBox="1"/>
            <p:nvPr/>
          </p:nvSpPr>
          <p:spPr>
            <a:xfrm>
              <a:off x="3930475" y="2316075"/>
              <a:ext cx="1828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000">
                  <a:solidFill>
                    <a:schemeClr val="dk1"/>
                  </a:solidFill>
                </a:rPr>
                <a:t>Software Separation</a:t>
              </a:r>
              <a:endParaRPr i="1" sz="1000">
                <a:solidFill>
                  <a:schemeClr val="dk1"/>
                </a:solidFill>
              </a:endParaRPr>
            </a:p>
          </p:txBody>
        </p:sp>
        <p:pic>
          <p:nvPicPr>
            <p:cNvPr id="151" name="Google Shape;151;p20"/>
            <p:cNvPicPr preferRelativeResize="0"/>
            <p:nvPr/>
          </p:nvPicPr>
          <p:blipFill>
            <a:blip r:embed="rId4">
              <a:alphaModFix/>
            </a:blip>
            <a:stretch>
              <a:fillRect/>
            </a:stretch>
          </p:blipFill>
          <p:spPr>
            <a:xfrm>
              <a:off x="6449787" y="1075750"/>
              <a:ext cx="2305762" cy="1278225"/>
            </a:xfrm>
            <a:prstGeom prst="rect">
              <a:avLst/>
            </a:prstGeom>
            <a:noFill/>
            <a:ln>
              <a:noFill/>
            </a:ln>
          </p:spPr>
        </p:pic>
        <p:sp>
          <p:nvSpPr>
            <p:cNvPr id="152" name="Google Shape;152;p20"/>
            <p:cNvSpPr txBox="1"/>
            <p:nvPr/>
          </p:nvSpPr>
          <p:spPr>
            <a:xfrm>
              <a:off x="7044475" y="2316075"/>
              <a:ext cx="1911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dk1"/>
                  </a:solidFill>
                </a:rPr>
                <a:t>Hardware Separation</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000">
                <a:latin typeface="Impact"/>
                <a:ea typeface="Impact"/>
                <a:cs typeface="Impact"/>
                <a:sym typeface="Impact"/>
              </a:rPr>
              <a:t>PERFORMANCE MODELS OF DESIGN PATTERNS</a:t>
            </a:r>
            <a:endParaRPr b="1" sz="2000">
              <a:latin typeface="Impact"/>
              <a:ea typeface="Impact"/>
              <a:cs typeface="Impact"/>
              <a:sym typeface="Impact"/>
            </a:endParaRPr>
          </a:p>
          <a:p>
            <a:pPr indent="0" lvl="0" marL="0" rtl="0" algn="l">
              <a:spcBef>
                <a:spcPts val="0"/>
              </a:spcBef>
              <a:spcAft>
                <a:spcPts val="0"/>
              </a:spcAft>
              <a:buNone/>
            </a:pPr>
            <a:r>
              <a:t/>
            </a:r>
            <a:endParaRPr/>
          </a:p>
        </p:txBody>
      </p:sp>
      <p:sp>
        <p:nvSpPr>
          <p:cNvPr id="158" name="Google Shape;158;p21"/>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159" name="Google Shape;159;p21"/>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160" name="Google Shape;160;p21"/>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161" name="Google Shape;161;p21"/>
          <p:cNvSpPr/>
          <p:nvPr/>
        </p:nvSpPr>
        <p:spPr>
          <a:xfrm>
            <a:off x="349950" y="251010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Gateway Aggregation</a:t>
            </a:r>
            <a:endParaRPr b="1" sz="1050">
              <a:solidFill>
                <a:schemeClr val="dk1"/>
              </a:solidFill>
            </a:endParaRPr>
          </a:p>
          <a:p>
            <a:pPr indent="0" lvl="0" marL="0" rtl="0" algn="ctr">
              <a:spcBef>
                <a:spcPts val="0"/>
              </a:spcBef>
              <a:spcAft>
                <a:spcPts val="0"/>
              </a:spcAft>
              <a:buNone/>
            </a:pPr>
            <a:r>
              <a:t/>
            </a:r>
            <a:endParaRPr/>
          </a:p>
        </p:txBody>
      </p:sp>
      <p:sp>
        <p:nvSpPr>
          <p:cNvPr id="162" name="Google Shape;162;p21"/>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163" name="Google Shape;163;p21"/>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164" name="Google Shape;164;p21"/>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165" name="Google Shape;165;p21"/>
          <p:cNvGrpSpPr/>
          <p:nvPr/>
        </p:nvGrpSpPr>
        <p:grpSpPr>
          <a:xfrm>
            <a:off x="3366475" y="802250"/>
            <a:ext cx="5331925" cy="3630578"/>
            <a:chOff x="3366475" y="802250"/>
            <a:chExt cx="5331925" cy="3630578"/>
          </a:xfrm>
        </p:grpSpPr>
        <p:sp>
          <p:nvSpPr>
            <p:cNvPr id="166" name="Google Shape;166;p21"/>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Clients must call many microservices individually, creating excessive network latency.</a:t>
              </a:r>
              <a:endParaRPr sz="1228">
                <a:solidFill>
                  <a:schemeClr val="dk1"/>
                </a:solidFill>
              </a:endParaRPr>
            </a:p>
          </p:txBody>
        </p:sp>
        <p:sp>
          <p:nvSpPr>
            <p:cNvPr id="167" name="Google Shape;167;p21"/>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Introduces a gateway that aggregates multiple backend requests into a single call, cutting network overhead and speeding responses.</a:t>
              </a:r>
              <a:endParaRPr sz="1228">
                <a:solidFill>
                  <a:schemeClr val="dk1"/>
                </a:solidFill>
              </a:endParaRPr>
            </a:p>
          </p:txBody>
        </p:sp>
        <p:sp>
          <p:nvSpPr>
            <p:cNvPr id="168" name="Google Shape;168;p21"/>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169" name="Google Shape;169;p21"/>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170" name="Google Shape;170;p21"/>
            <p:cNvPicPr preferRelativeResize="0"/>
            <p:nvPr/>
          </p:nvPicPr>
          <p:blipFill>
            <a:blip r:embed="rId3">
              <a:alphaModFix/>
            </a:blip>
            <a:stretch>
              <a:fillRect/>
            </a:stretch>
          </p:blipFill>
          <p:spPr>
            <a:xfrm>
              <a:off x="4379800" y="802250"/>
              <a:ext cx="3171389" cy="180735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000">
                <a:latin typeface="Impact"/>
                <a:ea typeface="Impact"/>
                <a:cs typeface="Impact"/>
                <a:sym typeface="Impact"/>
              </a:rPr>
              <a:t>PERFORMANCE MODELS OF DESIGN PATTERNS</a:t>
            </a:r>
            <a:endParaRPr b="1" sz="2000">
              <a:latin typeface="Impact"/>
              <a:ea typeface="Impact"/>
              <a:cs typeface="Impact"/>
              <a:sym typeface="Impact"/>
            </a:endParaRPr>
          </a:p>
          <a:p>
            <a:pPr indent="0" lvl="0" marL="0" rtl="0" algn="l">
              <a:spcBef>
                <a:spcPts val="0"/>
              </a:spcBef>
              <a:spcAft>
                <a:spcPts val="0"/>
              </a:spcAft>
              <a:buNone/>
            </a:pPr>
            <a:r>
              <a:t/>
            </a:r>
            <a:endParaRPr/>
          </a:p>
        </p:txBody>
      </p:sp>
      <p:sp>
        <p:nvSpPr>
          <p:cNvPr id="176" name="Google Shape;176;p22"/>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177" name="Google Shape;177;p22"/>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178" name="Google Shape;178;p22"/>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179" name="Google Shape;179;p22"/>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180" name="Google Shape;180;p22"/>
          <p:cNvSpPr/>
          <p:nvPr/>
        </p:nvSpPr>
        <p:spPr>
          <a:xfrm>
            <a:off x="349950" y="3093625"/>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Gateway Offloading</a:t>
            </a:r>
            <a:endParaRPr b="1" sz="1050">
              <a:solidFill>
                <a:schemeClr val="dk1"/>
              </a:solidFill>
            </a:endParaRPr>
          </a:p>
          <a:p>
            <a:pPr indent="0" lvl="0" marL="0" rtl="0" algn="ctr">
              <a:spcBef>
                <a:spcPts val="0"/>
              </a:spcBef>
              <a:spcAft>
                <a:spcPts val="0"/>
              </a:spcAft>
              <a:buNone/>
            </a:pPr>
            <a:r>
              <a:t/>
            </a:r>
            <a:endParaRPr/>
          </a:p>
        </p:txBody>
      </p:sp>
      <p:sp>
        <p:nvSpPr>
          <p:cNvPr id="181" name="Google Shape;181;p22"/>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182" name="Google Shape;182;p22"/>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183" name="Google Shape;183;p22"/>
          <p:cNvGrpSpPr/>
          <p:nvPr/>
        </p:nvGrpSpPr>
        <p:grpSpPr>
          <a:xfrm>
            <a:off x="3366475" y="1201950"/>
            <a:ext cx="5331925" cy="3230878"/>
            <a:chOff x="3366475" y="1201950"/>
            <a:chExt cx="5331925" cy="3230878"/>
          </a:xfrm>
        </p:grpSpPr>
        <p:sp>
          <p:nvSpPr>
            <p:cNvPr id="184" name="Google Shape;184;p22"/>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Common cross-cutting tasks (authentication, logging, caching) are duplicated across services.</a:t>
              </a:r>
              <a:endParaRPr sz="1228">
                <a:solidFill>
                  <a:schemeClr val="dk1"/>
                </a:solidFill>
              </a:endParaRPr>
            </a:p>
          </p:txBody>
        </p:sp>
        <p:sp>
          <p:nvSpPr>
            <p:cNvPr id="185" name="Google Shape;185;p22"/>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Moves shared logic to a centralized gateway, reducing duplication, but can create a bottleneck if the gateway becomes overloaded.</a:t>
              </a:r>
              <a:endParaRPr sz="1228">
                <a:solidFill>
                  <a:schemeClr val="dk1"/>
                </a:solidFill>
              </a:endParaRPr>
            </a:p>
          </p:txBody>
        </p:sp>
        <p:sp>
          <p:nvSpPr>
            <p:cNvPr id="186" name="Google Shape;186;p22"/>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187" name="Google Shape;187;p22"/>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188" name="Google Shape;188;p22"/>
            <p:cNvPicPr preferRelativeResize="0"/>
            <p:nvPr/>
          </p:nvPicPr>
          <p:blipFill>
            <a:blip r:embed="rId3">
              <a:alphaModFix/>
            </a:blip>
            <a:stretch>
              <a:fillRect/>
            </a:stretch>
          </p:blipFill>
          <p:spPr>
            <a:xfrm>
              <a:off x="3607844" y="1201950"/>
              <a:ext cx="4801357" cy="1440400"/>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311700" y="8845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latin typeface="Impact"/>
                <a:ea typeface="Impact"/>
                <a:cs typeface="Impact"/>
                <a:sym typeface="Impact"/>
              </a:rPr>
              <a:t>PERFORMANCE MODELS OF DESIGN PATTERNS</a:t>
            </a:r>
            <a:endParaRPr b="1" sz="1800">
              <a:latin typeface="Impact"/>
              <a:ea typeface="Impact"/>
              <a:cs typeface="Impact"/>
              <a:sym typeface="Impact"/>
            </a:endParaRPr>
          </a:p>
          <a:p>
            <a:pPr indent="0" lvl="0" marL="0" rtl="0" algn="l">
              <a:spcBef>
                <a:spcPts val="0"/>
              </a:spcBef>
              <a:spcAft>
                <a:spcPts val="0"/>
              </a:spcAft>
              <a:buNone/>
            </a:pPr>
            <a:r>
              <a:t/>
            </a:r>
            <a:endParaRPr/>
          </a:p>
        </p:txBody>
      </p:sp>
      <p:sp>
        <p:nvSpPr>
          <p:cNvPr id="194" name="Google Shape;194;p23"/>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195" name="Google Shape;195;p23"/>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196" name="Google Shape;196;p23"/>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197" name="Google Shape;197;p23"/>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198" name="Google Shape;198;p23"/>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199" name="Google Shape;199;p23"/>
          <p:cNvSpPr/>
          <p:nvPr/>
        </p:nvSpPr>
        <p:spPr>
          <a:xfrm>
            <a:off x="349950" y="36771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050">
              <a:solidFill>
                <a:schemeClr val="dk1"/>
              </a:solidFill>
            </a:endParaRPr>
          </a:p>
          <a:p>
            <a:pPr indent="0" lvl="0" marL="0" rtl="0" algn="l">
              <a:lnSpc>
                <a:spcPct val="115000"/>
              </a:lnSpc>
              <a:spcBef>
                <a:spcPts val="0"/>
              </a:spcBef>
              <a:spcAft>
                <a:spcPts val="0"/>
              </a:spcAft>
              <a:buNone/>
            </a:pPr>
            <a:r>
              <a:rPr b="1" lang="en" sz="1050">
                <a:solidFill>
                  <a:schemeClr val="dk1"/>
                </a:solidFill>
              </a:rPr>
              <a:t>Pipe and Filters</a:t>
            </a:r>
            <a:endParaRPr b="1" sz="1050">
              <a:solidFill>
                <a:schemeClr val="dk1"/>
              </a:solidFill>
            </a:endParaRPr>
          </a:p>
          <a:p>
            <a:pPr indent="0" lvl="0" marL="0" rtl="0" algn="ctr">
              <a:spcBef>
                <a:spcPts val="0"/>
              </a:spcBef>
              <a:spcAft>
                <a:spcPts val="0"/>
              </a:spcAft>
              <a:buNone/>
            </a:pPr>
            <a:r>
              <a:t/>
            </a:r>
            <a:endParaRPr b="1"/>
          </a:p>
        </p:txBody>
      </p:sp>
      <p:sp>
        <p:nvSpPr>
          <p:cNvPr id="200" name="Google Shape;200;p23"/>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201" name="Google Shape;201;p23"/>
          <p:cNvGrpSpPr/>
          <p:nvPr/>
        </p:nvGrpSpPr>
        <p:grpSpPr>
          <a:xfrm>
            <a:off x="2925300" y="970587"/>
            <a:ext cx="5951700" cy="3462240"/>
            <a:chOff x="2925300" y="970587"/>
            <a:chExt cx="5951700" cy="3462240"/>
          </a:xfrm>
        </p:grpSpPr>
        <p:sp>
          <p:nvSpPr>
            <p:cNvPr id="202" name="Google Shape;202;p23"/>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New microservices must communicate with legacy or incompatible systems, risking inconsistent data and poor integration.</a:t>
              </a:r>
              <a:endParaRPr sz="1228">
                <a:solidFill>
                  <a:schemeClr val="dk1"/>
                </a:solidFill>
              </a:endParaRPr>
            </a:p>
          </p:txBody>
        </p:sp>
        <p:sp>
          <p:nvSpPr>
            <p:cNvPr id="203" name="Google Shape;203;p23"/>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Adds a translation / adapter layer between systems, ensuring clean communication — but adds slight latency overhead.</a:t>
              </a:r>
              <a:endParaRPr sz="1228">
                <a:solidFill>
                  <a:schemeClr val="dk1"/>
                </a:solidFill>
              </a:endParaRPr>
            </a:p>
          </p:txBody>
        </p:sp>
        <p:sp>
          <p:nvSpPr>
            <p:cNvPr id="204" name="Google Shape;204;p23"/>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205" name="Google Shape;205;p23"/>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206" name="Google Shape;206;p23"/>
            <p:cNvPicPr preferRelativeResize="0"/>
            <p:nvPr/>
          </p:nvPicPr>
          <p:blipFill>
            <a:blip r:embed="rId3">
              <a:alphaModFix/>
            </a:blip>
            <a:stretch>
              <a:fillRect/>
            </a:stretch>
          </p:blipFill>
          <p:spPr>
            <a:xfrm>
              <a:off x="2925300" y="970587"/>
              <a:ext cx="3034408" cy="1122300"/>
            </a:xfrm>
            <a:prstGeom prst="rect">
              <a:avLst/>
            </a:prstGeom>
            <a:noFill/>
            <a:ln>
              <a:noFill/>
            </a:ln>
          </p:spPr>
        </p:pic>
        <p:pic>
          <p:nvPicPr>
            <p:cNvPr id="207" name="Google Shape;207;p23"/>
            <p:cNvPicPr preferRelativeResize="0"/>
            <p:nvPr/>
          </p:nvPicPr>
          <p:blipFill>
            <a:blip r:embed="rId4">
              <a:alphaModFix/>
            </a:blip>
            <a:stretch>
              <a:fillRect/>
            </a:stretch>
          </p:blipFill>
          <p:spPr>
            <a:xfrm>
              <a:off x="6127300" y="1075754"/>
              <a:ext cx="2749700" cy="1017021"/>
            </a:xfrm>
            <a:prstGeom prst="rect">
              <a:avLst/>
            </a:prstGeom>
            <a:noFill/>
            <a:ln>
              <a:noFill/>
            </a:ln>
          </p:spPr>
        </p:pic>
        <p:sp>
          <p:nvSpPr>
            <p:cNvPr id="208" name="Google Shape;208;p23"/>
            <p:cNvSpPr txBox="1"/>
            <p:nvPr/>
          </p:nvSpPr>
          <p:spPr>
            <a:xfrm>
              <a:off x="3756950" y="2140800"/>
              <a:ext cx="2255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100">
                  <a:solidFill>
                    <a:schemeClr val="dk1"/>
                  </a:solidFill>
                </a:rPr>
                <a:t>Separated Services</a:t>
              </a:r>
              <a:endParaRPr i="1" sz="1100">
                <a:solidFill>
                  <a:schemeClr val="dk1"/>
                </a:solidFill>
              </a:endParaRPr>
            </a:p>
          </p:txBody>
        </p:sp>
        <p:sp>
          <p:nvSpPr>
            <p:cNvPr id="209" name="Google Shape;209;p23"/>
            <p:cNvSpPr txBox="1"/>
            <p:nvPr/>
          </p:nvSpPr>
          <p:spPr>
            <a:xfrm>
              <a:off x="6723000" y="2140800"/>
              <a:ext cx="2154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rPr>
                <a:t>Joint</a:t>
              </a:r>
              <a:r>
                <a:rPr i="1" lang="en" sz="1100">
                  <a:solidFill>
                    <a:schemeClr val="dk1"/>
                  </a:solidFill>
                </a:rPr>
                <a:t> Services</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000">
                <a:latin typeface="Impact"/>
                <a:ea typeface="Impact"/>
                <a:cs typeface="Impact"/>
                <a:sym typeface="Impact"/>
              </a:rPr>
              <a:t>PERFORMANCE MODELS OF DESIGN PATTERNS</a:t>
            </a:r>
            <a:endParaRPr b="1" sz="2000">
              <a:latin typeface="Impact"/>
              <a:ea typeface="Impact"/>
              <a:cs typeface="Impact"/>
              <a:sym typeface="Impact"/>
            </a:endParaRPr>
          </a:p>
          <a:p>
            <a:pPr indent="0" lvl="0" marL="0" rtl="0" algn="l">
              <a:spcBef>
                <a:spcPts val="0"/>
              </a:spcBef>
              <a:spcAft>
                <a:spcPts val="0"/>
              </a:spcAft>
              <a:buNone/>
            </a:pPr>
            <a:r>
              <a:t/>
            </a:r>
            <a:endParaRPr/>
          </a:p>
        </p:txBody>
      </p:sp>
      <p:sp>
        <p:nvSpPr>
          <p:cNvPr id="215" name="Google Shape;215;p24"/>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216" name="Google Shape;216;p24"/>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217" name="Google Shape;217;p24"/>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218" name="Google Shape;218;p24"/>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219" name="Google Shape;219;p24"/>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220" name="Google Shape;220;p24"/>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221" name="Google Shape;221;p24"/>
          <p:cNvSpPr/>
          <p:nvPr/>
        </p:nvSpPr>
        <p:spPr>
          <a:xfrm>
            <a:off x="349950" y="43010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Static Content Hosting</a:t>
            </a:r>
            <a:endParaRPr b="1" sz="1050">
              <a:solidFill>
                <a:schemeClr val="dk1"/>
              </a:solidFill>
            </a:endParaRPr>
          </a:p>
          <a:p>
            <a:pPr indent="0" lvl="0" marL="0" rtl="0" algn="ctr">
              <a:spcBef>
                <a:spcPts val="0"/>
              </a:spcBef>
              <a:spcAft>
                <a:spcPts val="0"/>
              </a:spcAft>
              <a:buNone/>
            </a:pPr>
            <a:r>
              <a:t/>
            </a:r>
            <a:endParaRPr b="1"/>
          </a:p>
        </p:txBody>
      </p:sp>
      <p:grpSp>
        <p:nvGrpSpPr>
          <p:cNvPr id="222" name="Google Shape;222;p24"/>
          <p:cNvGrpSpPr/>
          <p:nvPr/>
        </p:nvGrpSpPr>
        <p:grpSpPr>
          <a:xfrm>
            <a:off x="3366475" y="829050"/>
            <a:ext cx="5331925" cy="3603778"/>
            <a:chOff x="3366475" y="829050"/>
            <a:chExt cx="5331925" cy="3603778"/>
          </a:xfrm>
        </p:grpSpPr>
        <p:sp>
          <p:nvSpPr>
            <p:cNvPr id="223" name="Google Shape;223;p24"/>
            <p:cNvSpPr/>
            <p:nvPr/>
          </p:nvSpPr>
          <p:spPr>
            <a:xfrm>
              <a:off x="3366475" y="3310528"/>
              <a:ext cx="2392500" cy="1122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Dynamic services slow down when also serving static assets (images, CSS, videos).</a:t>
              </a:r>
              <a:endParaRPr sz="1228">
                <a:solidFill>
                  <a:schemeClr val="dk1"/>
                </a:solidFill>
              </a:endParaRPr>
            </a:p>
          </p:txBody>
        </p:sp>
        <p:sp>
          <p:nvSpPr>
            <p:cNvPr id="224" name="Google Shape;224;p24"/>
            <p:cNvSpPr/>
            <p:nvPr/>
          </p:nvSpPr>
          <p:spPr>
            <a:xfrm>
              <a:off x="6305900" y="3310563"/>
              <a:ext cx="2392500" cy="11220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Offloads static resources to specialized storage / CDN microservices, freeing compute capacity and lowering response time.</a:t>
              </a:r>
              <a:endParaRPr sz="1228">
                <a:solidFill>
                  <a:schemeClr val="dk1"/>
                </a:solidFill>
              </a:endParaRPr>
            </a:p>
          </p:txBody>
        </p:sp>
        <p:sp>
          <p:nvSpPr>
            <p:cNvPr id="225" name="Google Shape;225;p24"/>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226" name="Google Shape;226;p24"/>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pic>
          <p:nvPicPr>
            <p:cNvPr id="227" name="Google Shape;227;p24"/>
            <p:cNvPicPr preferRelativeResize="0"/>
            <p:nvPr/>
          </p:nvPicPr>
          <p:blipFill>
            <a:blip r:embed="rId3">
              <a:alphaModFix/>
            </a:blip>
            <a:stretch>
              <a:fillRect/>
            </a:stretch>
          </p:blipFill>
          <p:spPr>
            <a:xfrm>
              <a:off x="3867875" y="829050"/>
              <a:ext cx="4089425" cy="1825625"/>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en" sz="2000">
                <a:latin typeface="Impact"/>
                <a:ea typeface="Impact"/>
                <a:cs typeface="Impact"/>
                <a:sym typeface="Impact"/>
              </a:rPr>
              <a:t>RQ2: </a:t>
            </a:r>
            <a:r>
              <a:rPr b="1" lang="en" sz="2000">
                <a:latin typeface="Impact"/>
                <a:ea typeface="Impact"/>
                <a:cs typeface="Impact"/>
                <a:sym typeface="Impact"/>
              </a:rPr>
              <a:t>MODEL BASED PERFORMANCE ANALYSIS</a:t>
            </a:r>
            <a:endParaRPr b="1" sz="2000">
              <a:latin typeface="Impact"/>
              <a:ea typeface="Impact"/>
              <a:cs typeface="Impact"/>
              <a:sym typeface="Impact"/>
            </a:endParaRPr>
          </a:p>
          <a:p>
            <a:pPr indent="0" lvl="0" marL="0" rtl="0" algn="l">
              <a:spcBef>
                <a:spcPts val="0"/>
              </a:spcBef>
              <a:spcAft>
                <a:spcPts val="0"/>
              </a:spcAft>
              <a:buNone/>
            </a:pPr>
            <a:r>
              <a:t/>
            </a:r>
            <a:endParaRPr/>
          </a:p>
        </p:txBody>
      </p:sp>
      <p:sp>
        <p:nvSpPr>
          <p:cNvPr id="233" name="Google Shape;233;p25"/>
          <p:cNvSpPr txBox="1"/>
          <p:nvPr/>
        </p:nvSpPr>
        <p:spPr>
          <a:xfrm>
            <a:off x="445125" y="724975"/>
            <a:ext cx="8886000" cy="483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a:solidFill>
                  <a:schemeClr val="dk1"/>
                </a:solidFill>
              </a:rPr>
              <a:t>Goal : </a:t>
            </a:r>
            <a:r>
              <a:rPr lang="en" sz="1100">
                <a:solidFill>
                  <a:schemeClr val="dk1"/>
                </a:solidFill>
              </a:rPr>
              <a:t>To measure system response time (R) and resource utilization (U) for each design pattern under different workloads.</a:t>
            </a:r>
            <a:endParaRPr b="1">
              <a:solidFill>
                <a:schemeClr val="dk1"/>
              </a:solidFill>
            </a:endParaRPr>
          </a:p>
        </p:txBody>
      </p:sp>
      <p:sp>
        <p:nvSpPr>
          <p:cNvPr id="234" name="Google Shape;234;p25"/>
          <p:cNvSpPr txBox="1"/>
          <p:nvPr/>
        </p:nvSpPr>
        <p:spPr>
          <a:xfrm>
            <a:off x="445125" y="1117375"/>
            <a:ext cx="8138700" cy="619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sz="1200">
                <a:solidFill>
                  <a:schemeClr val="dk1"/>
                </a:solidFill>
              </a:rPr>
              <a:t>Tool Used</a:t>
            </a:r>
            <a:r>
              <a:rPr b="1" lang="en">
                <a:solidFill>
                  <a:schemeClr val="dk1"/>
                </a:solidFill>
              </a:rPr>
              <a:t> : </a:t>
            </a:r>
            <a:r>
              <a:rPr lang="en" sz="1100">
                <a:solidFill>
                  <a:schemeClr val="dk1"/>
                </a:solidFill>
              </a:rPr>
              <a:t>JSIMgraph (Java Modelling Tools) to run </a:t>
            </a:r>
            <a:r>
              <a:rPr b="1" lang="en" sz="1100">
                <a:solidFill>
                  <a:schemeClr val="dk1"/>
                </a:solidFill>
              </a:rPr>
              <a:t>Queueing Network (QN)</a:t>
            </a:r>
            <a:r>
              <a:rPr lang="en" sz="1100">
                <a:solidFill>
                  <a:schemeClr val="dk1"/>
                </a:solidFill>
              </a:rPr>
              <a:t> simulations for each pattern.</a:t>
            </a:r>
            <a:endParaRPr sz="1100">
              <a:solidFill>
                <a:schemeClr val="dk1"/>
              </a:solidFill>
            </a:endParaRPr>
          </a:p>
          <a:p>
            <a:pPr indent="0" lvl="0" marL="0" rtl="0" algn="l">
              <a:spcBef>
                <a:spcPts val="0"/>
              </a:spcBef>
              <a:spcAft>
                <a:spcPts val="0"/>
              </a:spcAft>
              <a:buNone/>
            </a:pPr>
            <a:r>
              <a:rPr lang="en" sz="1100">
                <a:solidFill>
                  <a:schemeClr val="dk1"/>
                </a:solidFill>
              </a:rPr>
              <a:t>                                      Average runtime per simulation ≈ </a:t>
            </a:r>
            <a:r>
              <a:rPr b="1" lang="en" sz="1100">
                <a:solidFill>
                  <a:schemeClr val="dk1"/>
                </a:solidFill>
              </a:rPr>
              <a:t>20 seconds</a:t>
            </a:r>
            <a:r>
              <a:rPr lang="en" sz="1100">
                <a:solidFill>
                  <a:schemeClr val="dk1"/>
                </a:solidFill>
              </a:rPr>
              <a:t> on standard hardware (Intel i7, 16GB RAM).</a:t>
            </a:r>
            <a:endParaRPr sz="1800">
              <a:solidFill>
                <a:schemeClr val="dk2"/>
              </a:solidFill>
            </a:endParaRPr>
          </a:p>
        </p:txBody>
      </p:sp>
      <p:graphicFrame>
        <p:nvGraphicFramePr>
          <p:cNvPr id="235" name="Google Shape;235;p25"/>
          <p:cNvGraphicFramePr/>
          <p:nvPr/>
        </p:nvGraphicFramePr>
        <p:xfrm>
          <a:off x="952500" y="1989925"/>
          <a:ext cx="3000000" cy="3000000"/>
        </p:xfrm>
        <a:graphic>
          <a:graphicData uri="http://schemas.openxmlformats.org/drawingml/2006/table">
            <a:tbl>
              <a:tblPr>
                <a:noFill/>
                <a:tableStyleId>{CB542F2F-05F9-4581-8870-7AC3738E7643}</a:tableStyleId>
              </a:tblPr>
              <a:tblGrid>
                <a:gridCol w="3619500"/>
                <a:gridCol w="3619500"/>
              </a:tblGrid>
              <a:tr h="391325">
                <a:tc>
                  <a:txBody>
                    <a:bodyPr/>
                    <a:lstStyle/>
                    <a:p>
                      <a:pPr indent="0" lvl="0" marL="0" rtl="0" algn="ctr">
                        <a:spcBef>
                          <a:spcPts val="0"/>
                        </a:spcBef>
                        <a:spcAft>
                          <a:spcPts val="0"/>
                        </a:spcAft>
                        <a:buNone/>
                      </a:pPr>
                      <a:r>
                        <a:rPr b="1" lang="en" sz="1300"/>
                        <a:t>Symbol</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D966"/>
                    </a:solidFill>
                  </a:tcPr>
                </a:tc>
                <a:tc>
                  <a:txBody>
                    <a:bodyPr/>
                    <a:lstStyle/>
                    <a:p>
                      <a:pPr indent="0" lvl="0" marL="0" rtl="0" algn="ctr">
                        <a:spcBef>
                          <a:spcPts val="0"/>
                        </a:spcBef>
                        <a:spcAft>
                          <a:spcPts val="0"/>
                        </a:spcAft>
                        <a:buNone/>
                      </a:pPr>
                      <a:r>
                        <a:rPr b="1" lang="en" sz="1300"/>
                        <a:t>Meaning</a:t>
                      </a:r>
                      <a:endParaRPr b="1" sz="13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FFD966"/>
                    </a:solidFill>
                  </a:tcPr>
                </a:tc>
              </a:tr>
              <a:tr h="381000">
                <a:tc>
                  <a:txBody>
                    <a:bodyPr/>
                    <a:lstStyle/>
                    <a:p>
                      <a:pPr indent="0" lvl="0" marL="0" rtl="0" algn="l">
                        <a:spcBef>
                          <a:spcPts val="0"/>
                        </a:spcBef>
                        <a:spcAft>
                          <a:spcPts val="0"/>
                        </a:spcAft>
                        <a:buNone/>
                      </a:pPr>
                      <a:r>
                        <a:rPr lang="en" sz="1200"/>
                        <a:t>N</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Number of users</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Z</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Thinking time for users</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200"/>
                        <a:t>S</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200"/>
                        <a:t>Service time </a:t>
                      </a:r>
                      <a:endParaRPr sz="1200"/>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tcPr>
                </a:tc>
              </a:tr>
            </a:tbl>
          </a:graphicData>
        </a:graphic>
      </p:graphicFrame>
      <p:sp>
        <p:nvSpPr>
          <p:cNvPr id="236" name="Google Shape;236;p25"/>
          <p:cNvSpPr txBox="1"/>
          <p:nvPr>
            <p:ph type="title"/>
          </p:nvPr>
        </p:nvSpPr>
        <p:spPr>
          <a:xfrm>
            <a:off x="311700" y="137150"/>
            <a:ext cx="8520600" cy="531600"/>
          </a:xfrm>
          <a:prstGeom prst="rect">
            <a:avLst/>
          </a:prstGeom>
          <a:solidFill>
            <a:srgbClr val="FFD966"/>
          </a:solidFill>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1800">
                <a:latin typeface="Impact"/>
                <a:ea typeface="Impact"/>
                <a:cs typeface="Impact"/>
                <a:sym typeface="Impact"/>
              </a:rPr>
              <a:t>RQ2:  MODEL BASED PERFORMANCE ANALYSIS</a:t>
            </a:r>
            <a:endParaRPr b="1">
              <a:latin typeface="Impact"/>
              <a:ea typeface="Impact"/>
              <a:cs typeface="Impact"/>
              <a:sym typeface="Impact"/>
            </a:endParaRPr>
          </a:p>
        </p:txBody>
      </p:sp>
    </p:spTree>
  </p:cSld>
  <p:clrMapOvr>
    <a:masterClrMapping/>
  </p:clrMapOvr>
  <mc:AlternateContent>
    <mc:Choice Requires="p14">
      <p:transition p14:dur="100">
        <p:fade thruBlk="1"/>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None/>
            </a:pPr>
            <a:r>
              <a:t/>
            </a:r>
            <a:endParaRPr/>
          </a:p>
        </p:txBody>
      </p:sp>
      <p:sp>
        <p:nvSpPr>
          <p:cNvPr id="242" name="Google Shape;242;p26"/>
          <p:cNvSpPr/>
          <p:nvPr/>
        </p:nvSpPr>
        <p:spPr>
          <a:xfrm>
            <a:off x="349950" y="6611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050">
                <a:solidFill>
                  <a:schemeClr val="dk1"/>
                </a:solidFill>
              </a:rPr>
              <a:t>  Anti-corruption Layer</a:t>
            </a:r>
            <a:endParaRPr b="1" sz="1050">
              <a:solidFill>
                <a:schemeClr val="dk1"/>
              </a:solidFill>
            </a:endParaRPr>
          </a:p>
          <a:p>
            <a:pPr indent="0" lvl="0" marL="0" rtl="0" algn="ctr">
              <a:spcBef>
                <a:spcPts val="0"/>
              </a:spcBef>
              <a:spcAft>
                <a:spcPts val="0"/>
              </a:spcAft>
              <a:buNone/>
            </a:pPr>
            <a:r>
              <a:t/>
            </a:r>
            <a:endParaRPr/>
          </a:p>
        </p:txBody>
      </p:sp>
      <p:sp>
        <p:nvSpPr>
          <p:cNvPr id="243" name="Google Shape;243;p26"/>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244" name="Google Shape;244;p26"/>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245" name="Google Shape;245;p26"/>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246" name="Google Shape;246;p26"/>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247" name="Google Shape;247;p26"/>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248" name="Google Shape;248;p26"/>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249" name="Google Shape;249;p26"/>
          <p:cNvGrpSpPr/>
          <p:nvPr/>
        </p:nvGrpSpPr>
        <p:grpSpPr>
          <a:xfrm>
            <a:off x="3366475" y="3035456"/>
            <a:ext cx="5331925" cy="1878319"/>
            <a:chOff x="3366475" y="3035456"/>
            <a:chExt cx="5331925" cy="1878319"/>
          </a:xfrm>
        </p:grpSpPr>
        <p:sp>
          <p:nvSpPr>
            <p:cNvPr id="250" name="Google Shape;250;p26"/>
            <p:cNvSpPr/>
            <p:nvPr/>
          </p:nvSpPr>
          <p:spPr>
            <a:xfrm>
              <a:off x="6305900" y="3310575"/>
              <a:ext cx="2392500" cy="16032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System performs best when there’s a balanced mix of fast and slow requests.</a:t>
              </a:r>
              <a:endParaRPr sz="1228">
                <a:solidFill>
                  <a:schemeClr val="dk1"/>
                </a:solidFill>
              </a:endParaRPr>
            </a:p>
            <a:p>
              <a:pPr indent="0" lvl="0" marL="0" rtl="0" algn="l">
                <a:spcBef>
                  <a:spcPts val="0"/>
                </a:spcBef>
                <a:spcAft>
                  <a:spcPts val="0"/>
                </a:spcAft>
                <a:buClr>
                  <a:schemeClr val="dk1"/>
                </a:buClr>
                <a:buSzPts val="1100"/>
                <a:buFont typeface="Arial"/>
                <a:buNone/>
              </a:pPr>
              <a:r>
                <a:rPr lang="en" sz="1228">
                  <a:solidFill>
                    <a:schemeClr val="dk1"/>
                  </a:solidFill>
                </a:rPr>
                <a:t>Too many of one type shifts the bottleneck between components (ACL, Subsystem 1, or Subsystem 2) and increases response time.</a:t>
              </a:r>
              <a:endParaRPr sz="1228">
                <a:solidFill>
                  <a:schemeClr val="dk1"/>
                </a:solidFill>
              </a:endParaRPr>
            </a:p>
          </p:txBody>
        </p:sp>
        <p:sp>
          <p:nvSpPr>
            <p:cNvPr id="251" name="Google Shape;251;p26"/>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Parameters</a:t>
              </a:r>
              <a:endParaRPr b="1" sz="1228"/>
            </a:p>
          </p:txBody>
        </p:sp>
        <p:sp>
          <p:nvSpPr>
            <p:cNvPr id="252" name="Google Shape;252;p26"/>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Finding</a:t>
              </a:r>
              <a:endParaRPr b="1" sz="1228"/>
            </a:p>
          </p:txBody>
        </p:sp>
      </p:grpSp>
      <p:pic>
        <p:nvPicPr>
          <p:cNvPr id="253" name="Google Shape;253;p26"/>
          <p:cNvPicPr preferRelativeResize="0"/>
          <p:nvPr/>
        </p:nvPicPr>
        <p:blipFill>
          <a:blip r:embed="rId3">
            <a:alphaModFix/>
          </a:blip>
          <a:stretch>
            <a:fillRect/>
          </a:stretch>
        </p:blipFill>
        <p:spPr>
          <a:xfrm>
            <a:off x="3376803" y="802288"/>
            <a:ext cx="5141977" cy="2092025"/>
          </a:xfrm>
          <a:prstGeom prst="rect">
            <a:avLst/>
          </a:prstGeom>
          <a:noFill/>
          <a:ln>
            <a:noFill/>
          </a:ln>
        </p:spPr>
      </p:pic>
      <p:pic>
        <p:nvPicPr>
          <p:cNvPr id="254" name="Google Shape;254;p26"/>
          <p:cNvPicPr preferRelativeResize="0"/>
          <p:nvPr/>
        </p:nvPicPr>
        <p:blipFill>
          <a:blip r:embed="rId4">
            <a:alphaModFix/>
          </a:blip>
          <a:stretch>
            <a:fillRect/>
          </a:stretch>
        </p:blipFill>
        <p:spPr>
          <a:xfrm>
            <a:off x="3366475" y="3345050"/>
            <a:ext cx="2507775" cy="125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3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260" name="Google Shape;260;p27"/>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  </a:t>
            </a:r>
            <a:r>
              <a:rPr lang="en" sz="1050">
                <a:solidFill>
                  <a:schemeClr val="dk1"/>
                </a:solidFill>
              </a:rPr>
              <a:t>Anti-corruption Layer</a:t>
            </a:r>
            <a:endParaRPr sz="1050">
              <a:solidFill>
                <a:schemeClr val="dk1"/>
              </a:solidFill>
            </a:endParaRPr>
          </a:p>
          <a:p>
            <a:pPr indent="0" lvl="0" marL="0" rtl="0" algn="ctr">
              <a:spcBef>
                <a:spcPts val="0"/>
              </a:spcBef>
              <a:spcAft>
                <a:spcPts val="0"/>
              </a:spcAft>
              <a:buNone/>
            </a:pPr>
            <a:r>
              <a:t/>
            </a:r>
            <a:endParaRPr/>
          </a:p>
        </p:txBody>
      </p:sp>
      <p:sp>
        <p:nvSpPr>
          <p:cNvPr id="261" name="Google Shape;261;p27"/>
          <p:cNvSpPr/>
          <p:nvPr/>
        </p:nvSpPr>
        <p:spPr>
          <a:xfrm>
            <a:off x="349950" y="12019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Backends for Frontends</a:t>
            </a:r>
            <a:endParaRPr b="1" sz="1050">
              <a:solidFill>
                <a:schemeClr val="dk1"/>
              </a:solidFill>
            </a:endParaRPr>
          </a:p>
          <a:p>
            <a:pPr indent="0" lvl="0" marL="0" rtl="0" algn="ctr">
              <a:spcBef>
                <a:spcPts val="0"/>
              </a:spcBef>
              <a:spcAft>
                <a:spcPts val="0"/>
              </a:spcAft>
              <a:buNone/>
            </a:pPr>
            <a:r>
              <a:t/>
            </a:r>
            <a:endParaRPr/>
          </a:p>
        </p:txBody>
      </p:sp>
      <p:sp>
        <p:nvSpPr>
          <p:cNvPr id="262" name="Google Shape;262;p27"/>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263" name="Google Shape;263;p27"/>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264" name="Google Shape;264;p27"/>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265" name="Google Shape;265;p27"/>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266" name="Google Shape;266;p27"/>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267" name="Google Shape;267;p27"/>
          <p:cNvGrpSpPr/>
          <p:nvPr/>
        </p:nvGrpSpPr>
        <p:grpSpPr>
          <a:xfrm>
            <a:off x="2861877" y="3035443"/>
            <a:ext cx="5836325" cy="1595421"/>
            <a:chOff x="3366475" y="3035456"/>
            <a:chExt cx="5331925" cy="1595421"/>
          </a:xfrm>
        </p:grpSpPr>
        <p:sp>
          <p:nvSpPr>
            <p:cNvPr id="268" name="Google Shape;268;p27"/>
            <p:cNvSpPr/>
            <p:nvPr/>
          </p:nvSpPr>
          <p:spPr>
            <a:xfrm>
              <a:off x="6305900" y="3310577"/>
              <a:ext cx="2392500" cy="1320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Best performance occurs when requests are evenly split between frontends.</a:t>
              </a:r>
              <a:endParaRPr sz="1228">
                <a:solidFill>
                  <a:schemeClr val="dk1"/>
                </a:solidFill>
              </a:endParaRPr>
            </a:p>
            <a:p>
              <a:pPr indent="0" lvl="0" marL="0" rtl="0" algn="l">
                <a:spcBef>
                  <a:spcPts val="0"/>
                </a:spcBef>
                <a:spcAft>
                  <a:spcPts val="0"/>
                </a:spcAft>
                <a:buNone/>
              </a:pPr>
              <a:r>
                <a:rPr lang="en" sz="1228">
                  <a:solidFill>
                    <a:schemeClr val="dk1"/>
                  </a:solidFill>
                </a:rPr>
                <a:t>If one backend handles most traffic, it becomes a bottleneck and slows the system.</a:t>
              </a:r>
              <a:endParaRPr sz="1228">
                <a:solidFill>
                  <a:schemeClr val="dk1"/>
                </a:solidFill>
              </a:endParaRPr>
            </a:p>
          </p:txBody>
        </p:sp>
        <p:sp>
          <p:nvSpPr>
            <p:cNvPr id="269" name="Google Shape;269;p27"/>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270" name="Google Shape;270;p27"/>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271" name="Google Shape;271;p27"/>
          <p:cNvPicPr preferRelativeResize="0"/>
          <p:nvPr/>
        </p:nvPicPr>
        <p:blipFill>
          <a:blip r:embed="rId3">
            <a:alphaModFix/>
          </a:blip>
          <a:stretch>
            <a:fillRect/>
          </a:stretch>
        </p:blipFill>
        <p:spPr>
          <a:xfrm>
            <a:off x="3366475" y="704850"/>
            <a:ext cx="5300458" cy="2219850"/>
          </a:xfrm>
          <a:prstGeom prst="rect">
            <a:avLst/>
          </a:prstGeom>
          <a:noFill/>
          <a:ln>
            <a:noFill/>
          </a:ln>
        </p:spPr>
      </p:pic>
      <p:pic>
        <p:nvPicPr>
          <p:cNvPr id="272" name="Google Shape;272;p27"/>
          <p:cNvPicPr preferRelativeResize="0"/>
          <p:nvPr/>
        </p:nvPicPr>
        <p:blipFill>
          <a:blip r:embed="rId4">
            <a:alphaModFix/>
          </a:blip>
          <a:stretch>
            <a:fillRect/>
          </a:stretch>
        </p:blipFill>
        <p:spPr>
          <a:xfrm>
            <a:off x="2861875" y="3322225"/>
            <a:ext cx="3067500" cy="923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2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278" name="Google Shape;278;p28"/>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279" name="Google Shape;279;p28"/>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280" name="Google Shape;280;p28"/>
          <p:cNvSpPr/>
          <p:nvPr/>
        </p:nvSpPr>
        <p:spPr>
          <a:xfrm>
            <a:off x="349950" y="1742750"/>
            <a:ext cx="1828500" cy="648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Command and Query Responsibility Segregation</a:t>
            </a:r>
            <a:endParaRPr b="1" sz="1050">
              <a:solidFill>
                <a:schemeClr val="dk1"/>
              </a:solidFill>
            </a:endParaRPr>
          </a:p>
          <a:p>
            <a:pPr indent="0" lvl="0" marL="0" rtl="0" algn="ctr">
              <a:spcBef>
                <a:spcPts val="0"/>
              </a:spcBef>
              <a:spcAft>
                <a:spcPts val="0"/>
              </a:spcAft>
              <a:buNone/>
            </a:pPr>
            <a:r>
              <a:t/>
            </a:r>
            <a:endParaRPr/>
          </a:p>
        </p:txBody>
      </p:sp>
      <p:sp>
        <p:nvSpPr>
          <p:cNvPr id="281" name="Google Shape;281;p28"/>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282" name="Google Shape;282;p28"/>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283" name="Google Shape;283;p28"/>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284" name="Google Shape;284;p28"/>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285" name="Google Shape;285;p28"/>
          <p:cNvGrpSpPr/>
          <p:nvPr/>
        </p:nvGrpSpPr>
        <p:grpSpPr>
          <a:xfrm>
            <a:off x="3366475" y="3035456"/>
            <a:ext cx="5331925" cy="1632019"/>
            <a:chOff x="3366475" y="3035456"/>
            <a:chExt cx="5331925" cy="1632019"/>
          </a:xfrm>
        </p:grpSpPr>
        <p:sp>
          <p:nvSpPr>
            <p:cNvPr id="286" name="Google Shape;286;p28"/>
            <p:cNvSpPr/>
            <p:nvPr/>
          </p:nvSpPr>
          <p:spPr>
            <a:xfrm>
              <a:off x="6305900" y="3310575"/>
              <a:ext cx="2392500" cy="13569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100">
                  <a:solidFill>
                    <a:schemeClr val="dk1"/>
                  </a:solidFill>
                </a:rPr>
                <a:t>Software separation (single DB) works better when writes are frequent.</a:t>
              </a:r>
              <a:endParaRPr sz="1100">
                <a:solidFill>
                  <a:schemeClr val="dk1"/>
                </a:solidFill>
              </a:endParaRPr>
            </a:p>
            <a:p>
              <a:pPr indent="0" lvl="0" marL="0" rtl="0" algn="l">
                <a:spcBef>
                  <a:spcPts val="0"/>
                </a:spcBef>
                <a:spcAft>
                  <a:spcPts val="0"/>
                </a:spcAft>
                <a:buNone/>
              </a:pPr>
              <a:r>
                <a:rPr lang="en" sz="1100">
                  <a:solidFill>
                    <a:schemeClr val="dk1"/>
                  </a:solidFill>
                </a:rPr>
                <a:t>Hardware separation (two DBs) performs better when writes are rare because sync overhead is lower.</a:t>
              </a:r>
              <a:endParaRPr sz="1100">
                <a:solidFill>
                  <a:schemeClr val="dk1"/>
                </a:solidFill>
              </a:endParaRPr>
            </a:p>
          </p:txBody>
        </p:sp>
        <p:sp>
          <p:nvSpPr>
            <p:cNvPr id="287" name="Google Shape;287;p28"/>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288" name="Google Shape;288;p28"/>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289" name="Google Shape;289;p28"/>
          <p:cNvPicPr preferRelativeResize="0"/>
          <p:nvPr/>
        </p:nvPicPr>
        <p:blipFill>
          <a:blip r:embed="rId3">
            <a:alphaModFix/>
          </a:blip>
          <a:stretch>
            <a:fillRect/>
          </a:stretch>
        </p:blipFill>
        <p:spPr>
          <a:xfrm>
            <a:off x="3366475" y="776750"/>
            <a:ext cx="5241151" cy="2143100"/>
          </a:xfrm>
          <a:prstGeom prst="rect">
            <a:avLst/>
          </a:prstGeom>
          <a:noFill/>
          <a:ln>
            <a:noFill/>
          </a:ln>
        </p:spPr>
      </p:pic>
      <p:pic>
        <p:nvPicPr>
          <p:cNvPr id="290" name="Google Shape;290;p28"/>
          <p:cNvPicPr preferRelativeResize="0"/>
          <p:nvPr/>
        </p:nvPicPr>
        <p:blipFill>
          <a:blip r:embed="rId4">
            <a:alphaModFix/>
          </a:blip>
          <a:stretch>
            <a:fillRect/>
          </a:stretch>
        </p:blipFill>
        <p:spPr>
          <a:xfrm>
            <a:off x="3370250" y="3342088"/>
            <a:ext cx="2403475" cy="89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2500"/>
                                        <p:tgtEl>
                                          <p:spTgt spid="2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9"/>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296" name="Google Shape;296;p29"/>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297" name="Google Shape;297;p29"/>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298" name="Google Shape;298;p29"/>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299" name="Google Shape;299;p29"/>
          <p:cNvSpPr/>
          <p:nvPr/>
        </p:nvSpPr>
        <p:spPr>
          <a:xfrm>
            <a:off x="349950" y="251010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Gateway Aggregation</a:t>
            </a:r>
            <a:endParaRPr b="1" sz="1050">
              <a:solidFill>
                <a:schemeClr val="dk1"/>
              </a:solidFill>
            </a:endParaRPr>
          </a:p>
          <a:p>
            <a:pPr indent="0" lvl="0" marL="0" rtl="0" algn="ctr">
              <a:spcBef>
                <a:spcPts val="0"/>
              </a:spcBef>
              <a:spcAft>
                <a:spcPts val="0"/>
              </a:spcAft>
              <a:buNone/>
            </a:pPr>
            <a:r>
              <a:t/>
            </a:r>
            <a:endParaRPr/>
          </a:p>
        </p:txBody>
      </p:sp>
      <p:sp>
        <p:nvSpPr>
          <p:cNvPr id="300" name="Google Shape;300;p29"/>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301" name="Google Shape;301;p29"/>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302" name="Google Shape;302;p29"/>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303" name="Google Shape;303;p29"/>
          <p:cNvGrpSpPr/>
          <p:nvPr/>
        </p:nvGrpSpPr>
        <p:grpSpPr>
          <a:xfrm>
            <a:off x="3366475" y="3035456"/>
            <a:ext cx="5331925" cy="1680319"/>
            <a:chOff x="3366475" y="3035456"/>
            <a:chExt cx="5331925" cy="1680319"/>
          </a:xfrm>
        </p:grpSpPr>
        <p:sp>
          <p:nvSpPr>
            <p:cNvPr id="304" name="Google Shape;304;p29"/>
            <p:cNvSpPr/>
            <p:nvPr/>
          </p:nvSpPr>
          <p:spPr>
            <a:xfrm>
              <a:off x="6305900" y="3310575"/>
              <a:ext cx="2392500" cy="14052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Aggregating requests reduces communication, but bottlenecks shift among microservices depending on workload mix.</a:t>
              </a:r>
              <a:endParaRPr sz="1228">
                <a:solidFill>
                  <a:schemeClr val="dk1"/>
                </a:solidFill>
              </a:endParaRPr>
            </a:p>
            <a:p>
              <a:pPr indent="0" lvl="0" marL="0" rtl="0" algn="l">
                <a:spcBef>
                  <a:spcPts val="0"/>
                </a:spcBef>
                <a:spcAft>
                  <a:spcPts val="0"/>
                </a:spcAft>
                <a:buNone/>
              </a:pPr>
              <a:r>
                <a:rPr lang="en" sz="1228">
                  <a:solidFill>
                    <a:schemeClr val="dk1"/>
                  </a:solidFill>
                </a:rPr>
                <a:t>The gateway itself doesn’t limit performance — one of the services does.</a:t>
              </a:r>
              <a:endParaRPr sz="1228">
                <a:solidFill>
                  <a:schemeClr val="dk1"/>
                </a:solidFill>
              </a:endParaRPr>
            </a:p>
          </p:txBody>
        </p:sp>
        <p:sp>
          <p:nvSpPr>
            <p:cNvPr id="305" name="Google Shape;305;p29"/>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306" name="Google Shape;306;p29"/>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307" name="Google Shape;307;p29"/>
          <p:cNvPicPr preferRelativeResize="0"/>
          <p:nvPr/>
        </p:nvPicPr>
        <p:blipFill>
          <a:blip r:embed="rId3">
            <a:alphaModFix/>
          </a:blip>
          <a:stretch>
            <a:fillRect/>
          </a:stretch>
        </p:blipFill>
        <p:spPr>
          <a:xfrm>
            <a:off x="3366475" y="753550"/>
            <a:ext cx="5200095" cy="2111150"/>
          </a:xfrm>
          <a:prstGeom prst="rect">
            <a:avLst/>
          </a:prstGeom>
          <a:noFill/>
          <a:ln>
            <a:noFill/>
          </a:ln>
        </p:spPr>
      </p:pic>
      <p:pic>
        <p:nvPicPr>
          <p:cNvPr id="308" name="Google Shape;308;p29"/>
          <p:cNvPicPr preferRelativeResize="0"/>
          <p:nvPr/>
        </p:nvPicPr>
        <p:blipFill>
          <a:blip r:embed="rId4">
            <a:alphaModFix/>
          </a:blip>
          <a:stretch>
            <a:fillRect/>
          </a:stretch>
        </p:blipFill>
        <p:spPr>
          <a:xfrm>
            <a:off x="3366473" y="3304025"/>
            <a:ext cx="2892450" cy="1160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2600"/>
                                        <p:tgtEl>
                                          <p:spTgt spid="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314" name="Google Shape;314;p30"/>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315" name="Google Shape;315;p30"/>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316" name="Google Shape;316;p30"/>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317" name="Google Shape;317;p30"/>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318" name="Google Shape;318;p30"/>
          <p:cNvSpPr/>
          <p:nvPr/>
        </p:nvSpPr>
        <p:spPr>
          <a:xfrm>
            <a:off x="349950" y="3093625"/>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Gateway Offloading</a:t>
            </a:r>
            <a:endParaRPr b="1" sz="1050">
              <a:solidFill>
                <a:schemeClr val="dk1"/>
              </a:solidFill>
            </a:endParaRPr>
          </a:p>
          <a:p>
            <a:pPr indent="0" lvl="0" marL="0" rtl="0" algn="ctr">
              <a:spcBef>
                <a:spcPts val="0"/>
              </a:spcBef>
              <a:spcAft>
                <a:spcPts val="0"/>
              </a:spcAft>
              <a:buNone/>
            </a:pPr>
            <a:r>
              <a:t/>
            </a:r>
            <a:endParaRPr/>
          </a:p>
        </p:txBody>
      </p:sp>
      <p:sp>
        <p:nvSpPr>
          <p:cNvPr id="319" name="Google Shape;319;p30"/>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320" name="Google Shape;320;p30"/>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321" name="Google Shape;321;p30"/>
          <p:cNvGrpSpPr/>
          <p:nvPr/>
        </p:nvGrpSpPr>
        <p:grpSpPr>
          <a:xfrm>
            <a:off x="3084350" y="3035484"/>
            <a:ext cx="5614517" cy="1715419"/>
            <a:chOff x="3366475" y="3035456"/>
            <a:chExt cx="5331925" cy="1715419"/>
          </a:xfrm>
        </p:grpSpPr>
        <p:sp>
          <p:nvSpPr>
            <p:cNvPr id="322" name="Google Shape;322;p30"/>
            <p:cNvSpPr/>
            <p:nvPr/>
          </p:nvSpPr>
          <p:spPr>
            <a:xfrm>
              <a:off x="6305900" y="3310575"/>
              <a:ext cx="2392500" cy="14403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Offloading short, common tasks improves performance.</a:t>
              </a:r>
              <a:endParaRPr sz="1228">
                <a:solidFill>
                  <a:schemeClr val="dk1"/>
                </a:solidFill>
              </a:endParaRPr>
            </a:p>
            <a:p>
              <a:pPr indent="0" lvl="0" marL="0" rtl="0" algn="l">
                <a:spcBef>
                  <a:spcPts val="0"/>
                </a:spcBef>
                <a:spcAft>
                  <a:spcPts val="0"/>
                </a:spcAft>
                <a:buNone/>
              </a:pPr>
              <a:r>
                <a:rPr lang="en" sz="1228">
                  <a:solidFill>
                    <a:schemeClr val="dk1"/>
                  </a:solidFill>
                </a:rPr>
                <a:t>Offloading long tasks overloads the gateway, making performance worse — it can even negate the benefit of using this pattern.</a:t>
              </a:r>
              <a:endParaRPr sz="1228">
                <a:solidFill>
                  <a:schemeClr val="dk1"/>
                </a:solidFill>
              </a:endParaRPr>
            </a:p>
          </p:txBody>
        </p:sp>
        <p:sp>
          <p:nvSpPr>
            <p:cNvPr id="323" name="Google Shape;323;p30"/>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Problem</a:t>
              </a:r>
              <a:endParaRPr b="1" sz="1228"/>
            </a:p>
          </p:txBody>
        </p:sp>
        <p:sp>
          <p:nvSpPr>
            <p:cNvPr id="324" name="Google Shape;324;p30"/>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325" name="Google Shape;325;p30"/>
          <p:cNvPicPr preferRelativeResize="0"/>
          <p:nvPr/>
        </p:nvPicPr>
        <p:blipFill>
          <a:blip r:embed="rId3">
            <a:alphaModFix/>
          </a:blip>
          <a:stretch>
            <a:fillRect/>
          </a:stretch>
        </p:blipFill>
        <p:spPr>
          <a:xfrm>
            <a:off x="3366475" y="727825"/>
            <a:ext cx="5139711" cy="2111150"/>
          </a:xfrm>
          <a:prstGeom prst="rect">
            <a:avLst/>
          </a:prstGeom>
          <a:noFill/>
          <a:ln>
            <a:noFill/>
          </a:ln>
        </p:spPr>
      </p:pic>
      <p:pic>
        <p:nvPicPr>
          <p:cNvPr id="326" name="Google Shape;326;p30"/>
          <p:cNvPicPr preferRelativeResize="0"/>
          <p:nvPr/>
        </p:nvPicPr>
        <p:blipFill>
          <a:blip r:embed="rId4">
            <a:alphaModFix/>
          </a:blip>
          <a:stretch>
            <a:fillRect/>
          </a:stretch>
        </p:blipFill>
        <p:spPr>
          <a:xfrm>
            <a:off x="3079563" y="3337525"/>
            <a:ext cx="2984875" cy="963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26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1"/>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332" name="Google Shape;332;p31"/>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333" name="Google Shape;333;p31"/>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334" name="Google Shape;334;p31"/>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335" name="Google Shape;335;p31"/>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336" name="Google Shape;336;p31"/>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337" name="Google Shape;337;p31"/>
          <p:cNvSpPr/>
          <p:nvPr/>
        </p:nvSpPr>
        <p:spPr>
          <a:xfrm>
            <a:off x="349950" y="36771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050">
              <a:solidFill>
                <a:schemeClr val="dk1"/>
              </a:solidFill>
            </a:endParaRPr>
          </a:p>
          <a:p>
            <a:pPr indent="0" lvl="0" marL="0" rtl="0" algn="l">
              <a:lnSpc>
                <a:spcPct val="115000"/>
              </a:lnSpc>
              <a:spcBef>
                <a:spcPts val="0"/>
              </a:spcBef>
              <a:spcAft>
                <a:spcPts val="0"/>
              </a:spcAft>
              <a:buNone/>
            </a:pPr>
            <a:r>
              <a:rPr b="1" lang="en" sz="1050">
                <a:solidFill>
                  <a:schemeClr val="dk1"/>
                </a:solidFill>
              </a:rPr>
              <a:t>Pipe and Filters</a:t>
            </a:r>
            <a:endParaRPr b="1" sz="1050">
              <a:solidFill>
                <a:schemeClr val="dk1"/>
              </a:solidFill>
            </a:endParaRPr>
          </a:p>
          <a:p>
            <a:pPr indent="0" lvl="0" marL="0" rtl="0" algn="ctr">
              <a:spcBef>
                <a:spcPts val="0"/>
              </a:spcBef>
              <a:spcAft>
                <a:spcPts val="0"/>
              </a:spcAft>
              <a:buNone/>
            </a:pPr>
            <a:r>
              <a:t/>
            </a:r>
            <a:endParaRPr b="1"/>
          </a:p>
        </p:txBody>
      </p:sp>
      <p:sp>
        <p:nvSpPr>
          <p:cNvPr id="338" name="Google Shape;338;p31"/>
          <p:cNvSpPr/>
          <p:nvPr/>
        </p:nvSpPr>
        <p:spPr>
          <a:xfrm>
            <a:off x="349950" y="43010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Static Content Hosting</a:t>
            </a:r>
            <a:endParaRPr sz="1050">
              <a:solidFill>
                <a:schemeClr val="dk1"/>
              </a:solidFill>
            </a:endParaRPr>
          </a:p>
          <a:p>
            <a:pPr indent="0" lvl="0" marL="0" rtl="0" algn="ctr">
              <a:spcBef>
                <a:spcPts val="0"/>
              </a:spcBef>
              <a:spcAft>
                <a:spcPts val="0"/>
              </a:spcAft>
              <a:buNone/>
            </a:pPr>
            <a:r>
              <a:t/>
            </a:r>
            <a:endParaRPr/>
          </a:p>
        </p:txBody>
      </p:sp>
      <p:grpSp>
        <p:nvGrpSpPr>
          <p:cNvPr id="339" name="Google Shape;339;p31"/>
          <p:cNvGrpSpPr/>
          <p:nvPr/>
        </p:nvGrpSpPr>
        <p:grpSpPr>
          <a:xfrm>
            <a:off x="3366475" y="3035456"/>
            <a:ext cx="5331925" cy="1806619"/>
            <a:chOff x="3366475" y="3035456"/>
            <a:chExt cx="5331925" cy="1806619"/>
          </a:xfrm>
        </p:grpSpPr>
        <p:sp>
          <p:nvSpPr>
            <p:cNvPr id="340" name="Google Shape;340;p31"/>
            <p:cNvSpPr/>
            <p:nvPr/>
          </p:nvSpPr>
          <p:spPr>
            <a:xfrm>
              <a:off x="6305900" y="3310575"/>
              <a:ext cx="2392500" cy="15315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228">
                  <a:solidFill>
                    <a:schemeClr val="dk1"/>
                  </a:solidFill>
                </a:rPr>
                <a:t>Shared “joint” tasks perform well only when given enough resources (e.g., 2 CPUs).</a:t>
              </a:r>
              <a:endParaRPr sz="1228">
                <a:solidFill>
                  <a:schemeClr val="dk1"/>
                </a:solidFill>
              </a:endParaRPr>
            </a:p>
            <a:p>
              <a:pPr indent="0" lvl="0" marL="0" rtl="0" algn="l">
                <a:spcBef>
                  <a:spcPts val="0"/>
                </a:spcBef>
                <a:spcAft>
                  <a:spcPts val="0"/>
                </a:spcAft>
                <a:buNone/>
              </a:pPr>
              <a:r>
                <a:rPr lang="en" sz="1228">
                  <a:solidFill>
                    <a:schemeClr val="dk1"/>
                  </a:solidFill>
                </a:rPr>
                <a:t>If under-provisioned, shared tasks slow everything down; duplicated services cost more but stay stable.</a:t>
              </a:r>
              <a:endParaRPr sz="1228">
                <a:solidFill>
                  <a:schemeClr val="dk1"/>
                </a:solidFill>
              </a:endParaRPr>
            </a:p>
          </p:txBody>
        </p:sp>
        <p:sp>
          <p:nvSpPr>
            <p:cNvPr id="341" name="Google Shape;341;p31"/>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Parameters</a:t>
              </a:r>
              <a:endParaRPr b="1" sz="1228"/>
            </a:p>
          </p:txBody>
        </p:sp>
        <p:sp>
          <p:nvSpPr>
            <p:cNvPr id="342" name="Google Shape;342;p31"/>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343" name="Google Shape;343;p31"/>
          <p:cNvPicPr preferRelativeResize="0"/>
          <p:nvPr/>
        </p:nvPicPr>
        <p:blipFill>
          <a:blip r:embed="rId3">
            <a:alphaModFix/>
          </a:blip>
          <a:stretch>
            <a:fillRect/>
          </a:stretch>
        </p:blipFill>
        <p:spPr>
          <a:xfrm>
            <a:off x="3813900" y="833888"/>
            <a:ext cx="3857625" cy="2028825"/>
          </a:xfrm>
          <a:prstGeom prst="rect">
            <a:avLst/>
          </a:prstGeom>
          <a:noFill/>
          <a:ln>
            <a:noFill/>
          </a:ln>
        </p:spPr>
      </p:pic>
      <p:pic>
        <p:nvPicPr>
          <p:cNvPr id="344" name="Google Shape;344;p31"/>
          <p:cNvPicPr preferRelativeResize="0"/>
          <p:nvPr/>
        </p:nvPicPr>
        <p:blipFill>
          <a:blip r:embed="rId4">
            <a:alphaModFix/>
          </a:blip>
          <a:stretch>
            <a:fillRect/>
          </a:stretch>
        </p:blipFill>
        <p:spPr>
          <a:xfrm>
            <a:off x="3366463" y="3312950"/>
            <a:ext cx="2714625" cy="114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2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2"/>
          <p:cNvSpPr txBox="1"/>
          <p:nvPr>
            <p:ph type="title"/>
          </p:nvPr>
        </p:nvSpPr>
        <p:spPr>
          <a:xfrm>
            <a:off x="311700" y="884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59104"/>
              <a:buFont typeface="Arial"/>
              <a:buNone/>
            </a:pPr>
            <a:r>
              <a:rPr b="1" lang="en" sz="1861"/>
              <a:t>M</a:t>
            </a:r>
            <a:r>
              <a:rPr b="1" lang="en" sz="1650"/>
              <a:t>ODEL</a:t>
            </a:r>
            <a:r>
              <a:rPr b="1" lang="en" sz="1861"/>
              <a:t> B</a:t>
            </a:r>
            <a:r>
              <a:rPr b="1" lang="en" sz="1650"/>
              <a:t>ASED</a:t>
            </a:r>
            <a:r>
              <a:rPr b="1" lang="en" sz="1861"/>
              <a:t> P</a:t>
            </a:r>
            <a:r>
              <a:rPr b="1" lang="en" sz="1650"/>
              <a:t>ERFORMANCE</a:t>
            </a:r>
            <a:r>
              <a:rPr b="1" lang="en" sz="1861"/>
              <a:t> A</a:t>
            </a:r>
            <a:r>
              <a:rPr b="1" lang="en" sz="1650"/>
              <a:t>NALYSIS</a:t>
            </a:r>
            <a:endParaRPr b="1" sz="1650"/>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b="1" sz="1861"/>
          </a:p>
        </p:txBody>
      </p:sp>
      <p:sp>
        <p:nvSpPr>
          <p:cNvPr id="350" name="Google Shape;350;p32"/>
          <p:cNvSpPr/>
          <p:nvPr/>
        </p:nvSpPr>
        <p:spPr>
          <a:xfrm>
            <a:off x="349950" y="661150"/>
            <a:ext cx="1828500" cy="414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  Anti-corruption Layer</a:t>
            </a:r>
            <a:endParaRPr sz="1050">
              <a:solidFill>
                <a:schemeClr val="dk1"/>
              </a:solidFill>
            </a:endParaRPr>
          </a:p>
          <a:p>
            <a:pPr indent="0" lvl="0" marL="0" rtl="0" algn="ctr">
              <a:spcBef>
                <a:spcPts val="0"/>
              </a:spcBef>
              <a:spcAft>
                <a:spcPts val="0"/>
              </a:spcAft>
              <a:buNone/>
            </a:pPr>
            <a:r>
              <a:t/>
            </a:r>
            <a:endParaRPr/>
          </a:p>
        </p:txBody>
      </p:sp>
      <p:sp>
        <p:nvSpPr>
          <p:cNvPr id="351" name="Google Shape;351;p32"/>
          <p:cNvSpPr/>
          <p:nvPr/>
        </p:nvSpPr>
        <p:spPr>
          <a:xfrm>
            <a:off x="349950" y="12019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Backends for Frontends</a:t>
            </a:r>
            <a:endParaRPr sz="1050">
              <a:solidFill>
                <a:schemeClr val="dk1"/>
              </a:solidFill>
            </a:endParaRPr>
          </a:p>
          <a:p>
            <a:pPr indent="0" lvl="0" marL="0" rtl="0" algn="ctr">
              <a:spcBef>
                <a:spcPts val="0"/>
              </a:spcBef>
              <a:spcAft>
                <a:spcPts val="0"/>
              </a:spcAft>
              <a:buNone/>
            </a:pPr>
            <a:r>
              <a:t/>
            </a:r>
            <a:endParaRPr/>
          </a:p>
        </p:txBody>
      </p:sp>
      <p:sp>
        <p:nvSpPr>
          <p:cNvPr id="352" name="Google Shape;352;p32"/>
          <p:cNvSpPr/>
          <p:nvPr/>
        </p:nvSpPr>
        <p:spPr>
          <a:xfrm>
            <a:off x="349950" y="1742750"/>
            <a:ext cx="1828500" cy="648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Command and Query Responsibility Segregation</a:t>
            </a:r>
            <a:endParaRPr sz="1050">
              <a:solidFill>
                <a:schemeClr val="dk1"/>
              </a:solidFill>
            </a:endParaRPr>
          </a:p>
          <a:p>
            <a:pPr indent="0" lvl="0" marL="0" rtl="0" algn="ctr">
              <a:spcBef>
                <a:spcPts val="0"/>
              </a:spcBef>
              <a:spcAft>
                <a:spcPts val="0"/>
              </a:spcAft>
              <a:buNone/>
            </a:pPr>
            <a:r>
              <a:t/>
            </a:r>
            <a:endParaRPr/>
          </a:p>
        </p:txBody>
      </p:sp>
      <p:sp>
        <p:nvSpPr>
          <p:cNvPr id="353" name="Google Shape;353;p32"/>
          <p:cNvSpPr/>
          <p:nvPr/>
        </p:nvSpPr>
        <p:spPr>
          <a:xfrm>
            <a:off x="349950" y="251010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Aggregation</a:t>
            </a:r>
            <a:endParaRPr sz="1050">
              <a:solidFill>
                <a:schemeClr val="dk1"/>
              </a:solidFill>
            </a:endParaRPr>
          </a:p>
          <a:p>
            <a:pPr indent="0" lvl="0" marL="0" rtl="0" algn="ctr">
              <a:spcBef>
                <a:spcPts val="0"/>
              </a:spcBef>
              <a:spcAft>
                <a:spcPts val="0"/>
              </a:spcAft>
              <a:buNone/>
            </a:pPr>
            <a:r>
              <a:t/>
            </a:r>
            <a:endParaRPr/>
          </a:p>
        </p:txBody>
      </p:sp>
      <p:sp>
        <p:nvSpPr>
          <p:cNvPr id="354" name="Google Shape;354;p32"/>
          <p:cNvSpPr/>
          <p:nvPr/>
        </p:nvSpPr>
        <p:spPr>
          <a:xfrm>
            <a:off x="349950" y="3093625"/>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Gateway Offloading</a:t>
            </a:r>
            <a:endParaRPr sz="1050">
              <a:solidFill>
                <a:schemeClr val="dk1"/>
              </a:solidFill>
            </a:endParaRPr>
          </a:p>
          <a:p>
            <a:pPr indent="0" lvl="0" marL="0" rtl="0" algn="ctr">
              <a:spcBef>
                <a:spcPts val="0"/>
              </a:spcBef>
              <a:spcAft>
                <a:spcPts val="0"/>
              </a:spcAft>
              <a:buNone/>
            </a:pPr>
            <a:r>
              <a:t/>
            </a:r>
            <a:endParaRPr/>
          </a:p>
        </p:txBody>
      </p:sp>
      <p:sp>
        <p:nvSpPr>
          <p:cNvPr id="355" name="Google Shape;355;p32"/>
          <p:cNvSpPr/>
          <p:nvPr/>
        </p:nvSpPr>
        <p:spPr>
          <a:xfrm>
            <a:off x="349950" y="3677150"/>
            <a:ext cx="1828500" cy="414600"/>
          </a:xfrm>
          <a:prstGeom prst="roundRect">
            <a:avLst>
              <a:gd fmla="val 16667"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lang="en" sz="1050">
                <a:solidFill>
                  <a:schemeClr val="dk1"/>
                </a:solidFill>
              </a:rPr>
              <a:t>Pipe and Filters</a:t>
            </a:r>
            <a:endParaRPr sz="1050">
              <a:solidFill>
                <a:schemeClr val="dk1"/>
              </a:solidFill>
            </a:endParaRPr>
          </a:p>
          <a:p>
            <a:pPr indent="0" lvl="0" marL="0" rtl="0" algn="ctr">
              <a:spcBef>
                <a:spcPts val="0"/>
              </a:spcBef>
              <a:spcAft>
                <a:spcPts val="0"/>
              </a:spcAft>
              <a:buNone/>
            </a:pPr>
            <a:r>
              <a:t/>
            </a:r>
            <a:endParaRPr/>
          </a:p>
        </p:txBody>
      </p:sp>
      <p:sp>
        <p:nvSpPr>
          <p:cNvPr id="356" name="Google Shape;356;p32"/>
          <p:cNvSpPr/>
          <p:nvPr/>
        </p:nvSpPr>
        <p:spPr>
          <a:xfrm>
            <a:off x="349950" y="4301050"/>
            <a:ext cx="1828500" cy="414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050">
              <a:solidFill>
                <a:schemeClr val="dk1"/>
              </a:solidFill>
            </a:endParaRPr>
          </a:p>
          <a:p>
            <a:pPr indent="0" lvl="0" marL="0" rtl="0" algn="l">
              <a:lnSpc>
                <a:spcPct val="115000"/>
              </a:lnSpc>
              <a:spcBef>
                <a:spcPts val="0"/>
              </a:spcBef>
              <a:spcAft>
                <a:spcPts val="0"/>
              </a:spcAft>
              <a:buNone/>
            </a:pPr>
            <a:r>
              <a:rPr b="1" lang="en" sz="1050">
                <a:solidFill>
                  <a:schemeClr val="dk1"/>
                </a:solidFill>
              </a:rPr>
              <a:t>Static Content Hosting</a:t>
            </a:r>
            <a:endParaRPr b="1" sz="1050">
              <a:solidFill>
                <a:schemeClr val="dk1"/>
              </a:solidFill>
            </a:endParaRPr>
          </a:p>
          <a:p>
            <a:pPr indent="0" lvl="0" marL="0" rtl="0" algn="ctr">
              <a:spcBef>
                <a:spcPts val="0"/>
              </a:spcBef>
              <a:spcAft>
                <a:spcPts val="0"/>
              </a:spcAft>
              <a:buNone/>
            </a:pPr>
            <a:r>
              <a:t/>
            </a:r>
            <a:endParaRPr b="1"/>
          </a:p>
        </p:txBody>
      </p:sp>
      <p:grpSp>
        <p:nvGrpSpPr>
          <p:cNvPr id="357" name="Google Shape;357;p32"/>
          <p:cNvGrpSpPr/>
          <p:nvPr/>
        </p:nvGrpSpPr>
        <p:grpSpPr>
          <a:xfrm>
            <a:off x="2521193" y="3035488"/>
            <a:ext cx="6177568" cy="1552519"/>
            <a:chOff x="3366475" y="3035456"/>
            <a:chExt cx="5331925" cy="1552519"/>
          </a:xfrm>
        </p:grpSpPr>
        <p:sp>
          <p:nvSpPr>
            <p:cNvPr id="358" name="Google Shape;358;p32"/>
            <p:cNvSpPr/>
            <p:nvPr/>
          </p:nvSpPr>
          <p:spPr>
            <a:xfrm>
              <a:off x="6305900" y="3310575"/>
              <a:ext cx="2392500" cy="12774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Clr>
                  <a:schemeClr val="dk1"/>
                </a:buClr>
                <a:buSzPts val="1100"/>
                <a:buFont typeface="Arial"/>
                <a:buNone/>
              </a:pPr>
              <a:r>
                <a:rPr lang="en" sz="1228">
                  <a:solidFill>
                    <a:schemeClr val="dk1"/>
                  </a:solidFill>
                </a:rPr>
                <a:t>Best performance when compute and storage workloads are balanced.</a:t>
              </a:r>
              <a:endParaRPr sz="1228">
                <a:solidFill>
                  <a:schemeClr val="dk1"/>
                </a:solidFill>
              </a:endParaRPr>
            </a:p>
            <a:p>
              <a:pPr indent="0" lvl="0" marL="0" rtl="0" algn="l">
                <a:spcBef>
                  <a:spcPts val="0"/>
                </a:spcBef>
                <a:spcAft>
                  <a:spcPts val="0"/>
                </a:spcAft>
                <a:buNone/>
              </a:pPr>
              <a:r>
                <a:rPr lang="en" sz="1228">
                  <a:solidFill>
                    <a:schemeClr val="dk1"/>
                  </a:solidFill>
                </a:rPr>
                <a:t>If one side dominates, that component becomes the bottleneck, slowing responses.</a:t>
              </a:r>
              <a:endParaRPr sz="1228">
                <a:solidFill>
                  <a:schemeClr val="dk1"/>
                </a:solidFill>
              </a:endParaRPr>
            </a:p>
          </p:txBody>
        </p:sp>
        <p:sp>
          <p:nvSpPr>
            <p:cNvPr id="359" name="Google Shape;359;p32"/>
            <p:cNvSpPr/>
            <p:nvPr/>
          </p:nvSpPr>
          <p:spPr>
            <a:xfrm>
              <a:off x="3366475" y="3035456"/>
              <a:ext cx="12456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Parameters</a:t>
              </a:r>
              <a:endParaRPr b="1" sz="1228"/>
            </a:p>
          </p:txBody>
        </p:sp>
        <p:sp>
          <p:nvSpPr>
            <p:cNvPr id="360" name="Google Shape;360;p32"/>
            <p:cNvSpPr/>
            <p:nvPr/>
          </p:nvSpPr>
          <p:spPr>
            <a:xfrm>
              <a:off x="6305900" y="3035500"/>
              <a:ext cx="12453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228"/>
                <a:t>Solution</a:t>
              </a:r>
              <a:endParaRPr b="1" sz="1228"/>
            </a:p>
          </p:txBody>
        </p:sp>
      </p:grpSp>
      <p:pic>
        <p:nvPicPr>
          <p:cNvPr id="361" name="Google Shape;361;p32"/>
          <p:cNvPicPr preferRelativeResize="0"/>
          <p:nvPr/>
        </p:nvPicPr>
        <p:blipFill>
          <a:blip r:embed="rId3">
            <a:alphaModFix/>
          </a:blip>
          <a:stretch>
            <a:fillRect/>
          </a:stretch>
        </p:blipFill>
        <p:spPr>
          <a:xfrm>
            <a:off x="3366475" y="744975"/>
            <a:ext cx="5103975" cy="2009350"/>
          </a:xfrm>
          <a:prstGeom prst="rect">
            <a:avLst/>
          </a:prstGeom>
          <a:noFill/>
          <a:ln>
            <a:noFill/>
          </a:ln>
        </p:spPr>
      </p:pic>
      <p:pic>
        <p:nvPicPr>
          <p:cNvPr id="362" name="Google Shape;362;p32"/>
          <p:cNvPicPr preferRelativeResize="0"/>
          <p:nvPr/>
        </p:nvPicPr>
        <p:blipFill>
          <a:blip r:embed="rId4">
            <a:alphaModFix/>
          </a:blip>
          <a:stretch>
            <a:fillRect/>
          </a:stretch>
        </p:blipFill>
        <p:spPr>
          <a:xfrm>
            <a:off x="2521188" y="3320413"/>
            <a:ext cx="3228975" cy="847725"/>
          </a:xfrm>
          <a:prstGeom prst="rect">
            <a:avLst/>
          </a:prstGeom>
          <a:noFill/>
          <a:ln>
            <a:noFill/>
          </a:ln>
        </p:spPr>
      </p:pic>
    </p:spTree>
  </p:cSld>
  <p:clrMapOvr>
    <a:masterClrMapping/>
  </p:clrMapOvr>
  <mc:AlternateContent>
    <mc:Choice Requires="p14">
      <p:transition p14:dur="100">
        <p:fade thruBlk="1"/>
      </p:transition>
    </mc:Choice>
    <mc:Fallback>
      <p:transition>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25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3"/>
          <p:cNvSpPr txBox="1"/>
          <p:nvPr>
            <p:ph type="title"/>
          </p:nvPr>
        </p:nvSpPr>
        <p:spPr>
          <a:xfrm>
            <a:off x="311700" y="137150"/>
            <a:ext cx="8520600" cy="531600"/>
          </a:xfrm>
          <a:prstGeom prst="rect">
            <a:avLst/>
          </a:prstGeom>
          <a:solidFill>
            <a:srgbClr val="FFD966"/>
          </a:solidFill>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1800">
                <a:latin typeface="Impact"/>
                <a:ea typeface="Impact"/>
                <a:cs typeface="Impact"/>
                <a:sym typeface="Impact"/>
              </a:rPr>
              <a:t>The practical implications</a:t>
            </a:r>
            <a:endParaRPr b="1">
              <a:latin typeface="Impact"/>
              <a:ea typeface="Impact"/>
              <a:cs typeface="Impact"/>
              <a:sym typeface="Impact"/>
            </a:endParaRPr>
          </a:p>
        </p:txBody>
      </p:sp>
      <p:sp>
        <p:nvSpPr>
          <p:cNvPr id="368" name="Google Shape;368;p33"/>
          <p:cNvSpPr txBox="1"/>
          <p:nvPr>
            <p:ph idx="1" type="body"/>
          </p:nvPr>
        </p:nvSpPr>
        <p:spPr>
          <a:xfrm>
            <a:off x="311700" y="608650"/>
            <a:ext cx="8520600" cy="44406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Clr>
                <a:schemeClr val="dk1"/>
              </a:buClr>
              <a:buSzPts val="1100"/>
              <a:buFont typeface="Arial"/>
              <a:buNone/>
            </a:pPr>
            <a:r>
              <a:rPr b="1" lang="en" sz="1200">
                <a:solidFill>
                  <a:schemeClr val="dk1"/>
                </a:solidFill>
              </a:rPr>
              <a:t>Authors’ view (practical impact)</a:t>
            </a:r>
            <a:endParaRPr b="1" sz="1200">
              <a:solidFill>
                <a:schemeClr val="dk1"/>
              </a:solidFill>
            </a:endParaRPr>
          </a:p>
          <a:p>
            <a:pPr indent="-304800" lvl="0" marL="457200" rtl="0" algn="l">
              <a:lnSpc>
                <a:spcPct val="75000"/>
              </a:lnSpc>
              <a:spcBef>
                <a:spcPts val="1200"/>
              </a:spcBef>
              <a:spcAft>
                <a:spcPts val="0"/>
              </a:spcAft>
              <a:buClr>
                <a:schemeClr val="dk1"/>
              </a:buClr>
              <a:buSzPts val="1200"/>
              <a:buChar char="●"/>
            </a:pPr>
            <a:r>
              <a:rPr lang="en" sz="1200">
                <a:solidFill>
                  <a:schemeClr val="dk1"/>
                </a:solidFill>
              </a:rPr>
              <a:t>Pattern benefits depend on the traffic mix; test with more than one workload</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CQRS: write-heavy systems can slow down due to synchronization; choose the split with care</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Gateway offloading: well-suited to small, common tasks (e.g., auth, rate limits); heavy tasks can bottleneck the gateway</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Backends for Frontends (BFF): if one frontend drives much more traffic, its backend can become a hotspot</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Pipes and Filters: increasing capacity in shared stages can outperform duplicating entire services</a:t>
            </a:r>
            <a:endParaRPr sz="1200">
              <a:solidFill>
                <a:schemeClr val="dk1"/>
              </a:solidFill>
            </a:endParaRPr>
          </a:p>
          <a:p>
            <a:pPr indent="0" lvl="0" marL="457200" rtl="0" algn="l">
              <a:lnSpc>
                <a:spcPct val="75000"/>
              </a:lnSpc>
              <a:spcBef>
                <a:spcPts val="1100"/>
              </a:spcBef>
              <a:spcAft>
                <a:spcPts val="0"/>
              </a:spcAft>
              <a:buNone/>
            </a:pPr>
            <a:r>
              <a:t/>
            </a:r>
            <a:endParaRPr sz="12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b="1" lang="en" sz="1200">
                <a:solidFill>
                  <a:schemeClr val="dk1"/>
                </a:solidFill>
              </a:rPr>
              <a:t>Our team’s view (practical impact)</a:t>
            </a:r>
            <a:endParaRPr b="1" sz="1200">
              <a:solidFill>
                <a:schemeClr val="dk1"/>
              </a:solidFill>
            </a:endParaRPr>
          </a:p>
          <a:p>
            <a:pPr indent="-304800" lvl="0" marL="457200" rtl="0" algn="l">
              <a:lnSpc>
                <a:spcPct val="75000"/>
              </a:lnSpc>
              <a:spcBef>
                <a:spcPts val="1200"/>
              </a:spcBef>
              <a:spcAft>
                <a:spcPts val="0"/>
              </a:spcAft>
              <a:buClr>
                <a:schemeClr val="dk1"/>
              </a:buClr>
              <a:buSzPts val="1200"/>
              <a:buChar char="●"/>
            </a:pPr>
            <a:r>
              <a:rPr lang="en" sz="1200">
                <a:solidFill>
                  <a:schemeClr val="dk1"/>
                </a:solidFill>
              </a:rPr>
              <a:t>Treat patterns as adjustable levers, not one-size-fits-all solutions; run quick “what-if” checks before committing</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Revisit the chosen pattern when the traffic mix changes</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Tie choices to clear SLOs (e.g., P95 latency) and keep simple tuning knobs (thread pools, CPU per stage)</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Start gateway offloading with lightweight tasks; measure results before moving heavier logic</a:t>
            </a:r>
            <a:endParaRPr sz="1200">
              <a:solidFill>
                <a:schemeClr val="dk1"/>
              </a:solidFill>
            </a:endParaRPr>
          </a:p>
          <a:p>
            <a:pPr indent="0" lvl="0" marL="0" rtl="0" algn="l">
              <a:lnSpc>
                <a:spcPct val="100000"/>
              </a:lnSpc>
              <a:spcBef>
                <a:spcPts val="0"/>
              </a:spcBef>
              <a:spcAft>
                <a:spcPts val="1200"/>
              </a:spcAft>
              <a:buNone/>
            </a:pPr>
            <a:r>
              <a:t/>
            </a:r>
            <a:endParaRPr sz="1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4"/>
          <p:cNvSpPr txBox="1"/>
          <p:nvPr>
            <p:ph type="title"/>
          </p:nvPr>
        </p:nvSpPr>
        <p:spPr>
          <a:xfrm>
            <a:off x="260275" y="170700"/>
            <a:ext cx="8520600" cy="572700"/>
          </a:xfrm>
          <a:prstGeom prst="rect">
            <a:avLst/>
          </a:prstGeom>
          <a:solidFill>
            <a:srgbClr val="FFD966"/>
          </a:solidFill>
        </p:spPr>
        <p:txBody>
          <a:bodyPr anchorCtr="0" anchor="t" bIns="91425" lIns="91425" spcFirstLastPara="1" rIns="91425" wrap="square" tIns="91425">
            <a:normAutofit/>
          </a:bodyPr>
          <a:lstStyle/>
          <a:p>
            <a:pPr indent="0" lvl="0" marL="0" rtl="0" algn="l">
              <a:spcBef>
                <a:spcPts val="0"/>
              </a:spcBef>
              <a:spcAft>
                <a:spcPts val="0"/>
              </a:spcAft>
              <a:buSzPts val="990"/>
              <a:buNone/>
            </a:pPr>
            <a:r>
              <a:rPr b="1" lang="en" sz="1820">
                <a:latin typeface="Impact"/>
                <a:ea typeface="Impact"/>
                <a:cs typeface="Impact"/>
                <a:sym typeface="Impact"/>
              </a:rPr>
              <a:t> FUTURE WORK </a:t>
            </a:r>
            <a:endParaRPr b="1" sz="1820">
              <a:latin typeface="Impact"/>
              <a:ea typeface="Impact"/>
              <a:cs typeface="Impact"/>
              <a:sym typeface="Impact"/>
            </a:endParaRPr>
          </a:p>
        </p:txBody>
      </p:sp>
      <p:sp>
        <p:nvSpPr>
          <p:cNvPr id="374" name="Google Shape;374;p34"/>
          <p:cNvSpPr txBox="1"/>
          <p:nvPr>
            <p:ph idx="1" type="body"/>
          </p:nvPr>
        </p:nvSpPr>
        <p:spPr>
          <a:xfrm>
            <a:off x="311700" y="840100"/>
            <a:ext cx="8520600" cy="4003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200">
                <a:solidFill>
                  <a:schemeClr val="dk1"/>
                </a:solidFill>
              </a:rPr>
              <a:t>Author’s suggestions</a:t>
            </a:r>
            <a:endParaRPr b="1" sz="1200">
              <a:solidFill>
                <a:schemeClr val="dk1"/>
              </a:solidFill>
            </a:endParaRPr>
          </a:p>
          <a:p>
            <a:pPr indent="-304800" lvl="0" marL="457200" rtl="0" algn="l">
              <a:lnSpc>
                <a:spcPct val="75000"/>
              </a:lnSpc>
              <a:spcBef>
                <a:spcPts val="1200"/>
              </a:spcBef>
              <a:spcAft>
                <a:spcPts val="0"/>
              </a:spcAft>
              <a:buClr>
                <a:schemeClr val="dk1"/>
              </a:buClr>
              <a:buSzPts val="1200"/>
              <a:buChar char="●"/>
            </a:pPr>
            <a:r>
              <a:rPr lang="en" sz="1200">
                <a:solidFill>
                  <a:schemeClr val="dk1"/>
                </a:solidFill>
              </a:rPr>
              <a:t>Extend the models to cover additional qualities (e.g., reliability, availability)</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Validate predictions on real systems and compare with measured results</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Run practitioner studies to confirm the models aid real-world design decisions</a:t>
            </a:r>
            <a:br>
              <a:rPr lang="en" sz="1200">
                <a:solidFill>
                  <a:schemeClr val="dk1"/>
                </a:solidFill>
              </a:rPr>
            </a:br>
            <a:endParaRPr sz="12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Our suggestions</a:t>
            </a:r>
            <a:endParaRPr b="1" sz="1200">
              <a:solidFill>
                <a:schemeClr val="dk1"/>
              </a:solidFill>
            </a:endParaRPr>
          </a:p>
          <a:p>
            <a:pPr indent="-304800" lvl="0" marL="457200" rtl="0" algn="l">
              <a:lnSpc>
                <a:spcPct val="75000"/>
              </a:lnSpc>
              <a:spcBef>
                <a:spcPts val="1200"/>
              </a:spcBef>
              <a:spcAft>
                <a:spcPts val="0"/>
              </a:spcAft>
              <a:buClr>
                <a:schemeClr val="dk1"/>
              </a:buClr>
              <a:buSzPts val="1200"/>
              <a:buChar char="●"/>
            </a:pPr>
            <a:r>
              <a:rPr lang="en" sz="1200">
                <a:solidFill>
                  <a:schemeClr val="dk1"/>
                </a:solidFill>
              </a:rPr>
              <a:t>Include cost and energy in the trade-off space (speed, throughput, cost)</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Model autoscaling policies and SLO targets directly</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Build an SLO-aware advisor that recommends a pattern and settings for a target P95/P99</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Use distributed tracing to keep model parameters accurate over time</a:t>
            </a:r>
            <a:br>
              <a:rPr lang="en" sz="1200">
                <a:solidFill>
                  <a:schemeClr val="dk1"/>
                </a:solidFill>
              </a:rPr>
            </a:br>
            <a:endParaRPr sz="1200">
              <a:solidFill>
                <a:schemeClr val="dk1"/>
              </a:solidFill>
            </a:endParaRPr>
          </a:p>
          <a:p>
            <a:pPr indent="-304800" lvl="0" marL="457200" rtl="0" algn="l">
              <a:lnSpc>
                <a:spcPct val="75000"/>
              </a:lnSpc>
              <a:spcBef>
                <a:spcPts val="0"/>
              </a:spcBef>
              <a:spcAft>
                <a:spcPts val="0"/>
              </a:spcAft>
              <a:buClr>
                <a:schemeClr val="dk1"/>
              </a:buClr>
              <a:buSzPts val="1200"/>
              <a:buChar char="●"/>
            </a:pPr>
            <a:r>
              <a:rPr lang="en" sz="1200">
                <a:solidFill>
                  <a:schemeClr val="dk1"/>
                </a:solidFill>
              </a:rPr>
              <a:t>Evaluate pattern combinations and serverless specifics (e.g., cold starts)</a:t>
            </a:r>
            <a:endParaRPr sz="1200">
              <a:solidFill>
                <a:schemeClr val="dk1"/>
              </a:solidFill>
            </a:endParaRPr>
          </a:p>
          <a:p>
            <a:pPr indent="0" lvl="0" marL="0" rtl="0" algn="l">
              <a:spcBef>
                <a:spcPts val="0"/>
              </a:spcBef>
              <a:spcAft>
                <a:spcPts val="1200"/>
              </a:spcAft>
              <a:buNone/>
            </a:pPr>
            <a:r>
              <a:t/>
            </a:r>
            <a:endParaRPr sz="12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5"/>
          <p:cNvSpPr txBox="1"/>
          <p:nvPr>
            <p:ph type="title"/>
          </p:nvPr>
        </p:nvSpPr>
        <p:spPr>
          <a:xfrm>
            <a:off x="311700" y="169775"/>
            <a:ext cx="27399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861">
                <a:latin typeface="Impact"/>
                <a:ea typeface="Impact"/>
                <a:cs typeface="Impact"/>
                <a:sym typeface="Impact"/>
              </a:rPr>
              <a:t>CRITIQUE </a:t>
            </a:r>
            <a:endParaRPr>
              <a:latin typeface="Impact"/>
              <a:ea typeface="Impact"/>
              <a:cs typeface="Impact"/>
              <a:sym typeface="Impact"/>
            </a:endParaRPr>
          </a:p>
        </p:txBody>
      </p:sp>
      <p:sp>
        <p:nvSpPr>
          <p:cNvPr id="380" name="Google Shape;380;p35"/>
          <p:cNvSpPr/>
          <p:nvPr/>
        </p:nvSpPr>
        <p:spPr>
          <a:xfrm>
            <a:off x="311700" y="1011975"/>
            <a:ext cx="2771400" cy="5727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b="1" lang="en" sz="1300">
                <a:solidFill>
                  <a:schemeClr val="dk1"/>
                </a:solidFill>
              </a:rPr>
              <a:t> </a:t>
            </a:r>
            <a:r>
              <a:rPr b="1" lang="en" sz="1200">
                <a:solidFill>
                  <a:schemeClr val="dk1"/>
                </a:solidFill>
              </a:rPr>
              <a:t>Q1. How does this research differ from the previous research?</a:t>
            </a:r>
            <a:endParaRPr b="1" sz="1200"/>
          </a:p>
        </p:txBody>
      </p:sp>
      <p:sp>
        <p:nvSpPr>
          <p:cNvPr id="381" name="Google Shape;381;p35"/>
          <p:cNvSpPr/>
          <p:nvPr/>
        </p:nvSpPr>
        <p:spPr>
          <a:xfrm>
            <a:off x="311700" y="1962238"/>
            <a:ext cx="2771400" cy="5286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00">
                <a:solidFill>
                  <a:schemeClr val="dk1"/>
                </a:solidFill>
              </a:rPr>
              <a:t>Q2. How appropriate is the research methodology?</a:t>
            </a:r>
            <a:endParaRPr sz="1200"/>
          </a:p>
        </p:txBody>
      </p:sp>
      <p:sp>
        <p:nvSpPr>
          <p:cNvPr id="382" name="Google Shape;382;p35"/>
          <p:cNvSpPr/>
          <p:nvPr/>
        </p:nvSpPr>
        <p:spPr>
          <a:xfrm>
            <a:off x="311700" y="2868425"/>
            <a:ext cx="2771400" cy="6360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lnSpc>
                <a:spcPct val="115000"/>
              </a:lnSpc>
              <a:spcBef>
                <a:spcPts val="0"/>
              </a:spcBef>
              <a:spcAft>
                <a:spcPts val="0"/>
              </a:spcAft>
              <a:buNone/>
            </a:pPr>
            <a:r>
              <a:t/>
            </a:r>
            <a:endParaRPr sz="1300">
              <a:solidFill>
                <a:schemeClr val="dk1"/>
              </a:solidFill>
            </a:endParaRPr>
          </a:p>
          <a:p>
            <a:pPr indent="0" lvl="0" marL="0" rtl="0" algn="ctr">
              <a:lnSpc>
                <a:spcPct val="115000"/>
              </a:lnSpc>
              <a:spcBef>
                <a:spcPts val="0"/>
              </a:spcBef>
              <a:spcAft>
                <a:spcPts val="0"/>
              </a:spcAft>
              <a:buNone/>
            </a:pPr>
            <a:r>
              <a:rPr lang="en" sz="1200">
                <a:solidFill>
                  <a:schemeClr val="dk1"/>
                </a:solidFill>
              </a:rPr>
              <a:t>Q3. </a:t>
            </a:r>
            <a:r>
              <a:rPr lang="en" sz="1200">
                <a:solidFill>
                  <a:schemeClr val="dk1"/>
                </a:solidFill>
              </a:rPr>
              <a:t>How valid is the result and interpretation?</a:t>
            </a:r>
            <a:endParaRPr sz="1200">
              <a:solidFill>
                <a:schemeClr val="dk1"/>
              </a:solidFill>
            </a:endParaRPr>
          </a:p>
          <a:p>
            <a:pPr indent="0" lvl="0" marL="0" rtl="0" algn="ctr">
              <a:spcBef>
                <a:spcPts val="0"/>
              </a:spcBef>
              <a:spcAft>
                <a:spcPts val="0"/>
              </a:spcAft>
              <a:buNone/>
            </a:pPr>
            <a:r>
              <a:t/>
            </a:r>
            <a:endParaRPr sz="1300"/>
          </a:p>
        </p:txBody>
      </p:sp>
      <p:sp>
        <p:nvSpPr>
          <p:cNvPr id="383" name="Google Shape;383;p35"/>
          <p:cNvSpPr/>
          <p:nvPr/>
        </p:nvSpPr>
        <p:spPr>
          <a:xfrm>
            <a:off x="311700" y="3882000"/>
            <a:ext cx="2771400" cy="5286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Q4. How well does the paper present the research?</a:t>
            </a:r>
            <a:endParaRPr sz="1684"/>
          </a:p>
        </p:txBody>
      </p:sp>
      <p:grpSp>
        <p:nvGrpSpPr>
          <p:cNvPr id="384" name="Google Shape;384;p35"/>
          <p:cNvGrpSpPr/>
          <p:nvPr/>
        </p:nvGrpSpPr>
        <p:grpSpPr>
          <a:xfrm>
            <a:off x="3366368" y="427886"/>
            <a:ext cx="5292456" cy="1082062"/>
            <a:chOff x="3366475" y="3035462"/>
            <a:chExt cx="2392503" cy="1082062"/>
          </a:xfrm>
        </p:grpSpPr>
        <p:sp>
          <p:nvSpPr>
            <p:cNvPr id="385" name="Google Shape;385;p35"/>
            <p:cNvSpPr/>
            <p:nvPr/>
          </p:nvSpPr>
          <p:spPr>
            <a:xfrm>
              <a:off x="3366478" y="3310524"/>
              <a:ext cx="2392500" cy="807000"/>
            </a:xfrm>
            <a:prstGeom prst="rect">
              <a:avLst/>
            </a:prstGeom>
            <a:solidFill>
              <a:schemeClr val="lt2"/>
            </a:solidFill>
            <a:ln cap="flat" cmpd="sng" w="9000">
              <a:solidFill>
                <a:schemeClr val="dk1"/>
              </a:solidFill>
              <a:prstDash val="solid"/>
              <a:round/>
              <a:headEnd len="sm" w="sm" type="none"/>
              <a:tailEnd len="sm" w="sm" type="none"/>
            </a:ln>
          </p:spPr>
          <p:txBody>
            <a:bodyPr anchorCtr="0" anchor="ctr" bIns="86425" lIns="86425" spcFirstLastPara="1" rIns="86425" wrap="square" tIns="86425">
              <a:noAutofit/>
            </a:bodyPr>
            <a:lstStyle/>
            <a:p>
              <a:pPr indent="-300281" lvl="0" marL="457200" rtl="0" algn="l">
                <a:spcBef>
                  <a:spcPts val="0"/>
                </a:spcBef>
                <a:spcAft>
                  <a:spcPts val="0"/>
                </a:spcAft>
                <a:buClr>
                  <a:schemeClr val="dk1"/>
                </a:buClr>
                <a:buSzPts val="1129"/>
                <a:buChar char="●"/>
              </a:pPr>
              <a:r>
                <a:rPr lang="en" sz="1128">
                  <a:solidFill>
                    <a:schemeClr val="dk1"/>
                  </a:solidFill>
                </a:rPr>
                <a:t>Yes. The paper reviews prior research on microservice design patterns, performance monitoring, and modeling. </a:t>
              </a:r>
              <a:endParaRPr sz="1128">
                <a:solidFill>
                  <a:schemeClr val="dk1"/>
                </a:solidFill>
              </a:endParaRPr>
            </a:p>
            <a:p>
              <a:pPr indent="-300281" lvl="0" marL="457200" rtl="0" algn="l">
                <a:spcBef>
                  <a:spcPts val="0"/>
                </a:spcBef>
                <a:spcAft>
                  <a:spcPts val="0"/>
                </a:spcAft>
                <a:buClr>
                  <a:schemeClr val="dk1"/>
                </a:buClr>
                <a:buSzPts val="1129"/>
                <a:buChar char="●"/>
              </a:pPr>
              <a:r>
                <a:rPr lang="en" sz="1128">
                  <a:solidFill>
                    <a:schemeClr val="dk1"/>
                  </a:solidFill>
                </a:rPr>
                <a:t>It cites surveys that show organizations use patterns based on belief rather than measured results.</a:t>
              </a:r>
              <a:endParaRPr sz="1128">
                <a:solidFill>
                  <a:schemeClr val="dk1"/>
                </a:solidFill>
              </a:endParaRPr>
            </a:p>
          </p:txBody>
        </p:sp>
        <p:sp>
          <p:nvSpPr>
            <p:cNvPr id="386" name="Google Shape;386;p35"/>
            <p:cNvSpPr/>
            <p:nvPr/>
          </p:nvSpPr>
          <p:spPr>
            <a:xfrm>
              <a:off x="3366475" y="3035462"/>
              <a:ext cx="23925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provide a literature review result?</a:t>
              </a:r>
              <a:endParaRPr b="1" sz="1128"/>
            </a:p>
          </p:txBody>
        </p:sp>
      </p:grpSp>
      <p:grpSp>
        <p:nvGrpSpPr>
          <p:cNvPr id="387" name="Google Shape;387;p35"/>
          <p:cNvGrpSpPr/>
          <p:nvPr/>
        </p:nvGrpSpPr>
        <p:grpSpPr>
          <a:xfrm>
            <a:off x="3366371" y="1683050"/>
            <a:ext cx="5292453" cy="1319086"/>
            <a:chOff x="3366470" y="2644866"/>
            <a:chExt cx="2392502" cy="1787864"/>
          </a:xfrm>
        </p:grpSpPr>
        <p:sp>
          <p:nvSpPr>
            <p:cNvPr id="388" name="Google Shape;388;p35"/>
            <p:cNvSpPr/>
            <p:nvPr/>
          </p:nvSpPr>
          <p:spPr>
            <a:xfrm>
              <a:off x="3366470" y="3060830"/>
              <a:ext cx="2392500" cy="1371900"/>
            </a:xfrm>
            <a:prstGeom prst="rect">
              <a:avLst/>
            </a:prstGeom>
            <a:solidFill>
              <a:schemeClr val="lt2"/>
            </a:solidFill>
            <a:ln cap="flat" cmpd="sng" w="9000">
              <a:solidFill>
                <a:schemeClr val="dk1"/>
              </a:solidFill>
              <a:prstDash val="solid"/>
              <a:round/>
              <a:headEnd len="sm" w="sm" type="none"/>
              <a:tailEnd len="sm" w="sm" type="none"/>
            </a:ln>
          </p:spPr>
          <p:txBody>
            <a:bodyPr anchorCtr="0" anchor="ctr" bIns="86425" lIns="86425" spcFirstLastPara="1" rIns="86425" wrap="square" tIns="86425">
              <a:noAutofit/>
            </a:bodyPr>
            <a:lstStyle/>
            <a:p>
              <a:pPr indent="-292100" lvl="0" marL="457200" rtl="0" algn="l">
                <a:spcBef>
                  <a:spcPts val="0"/>
                </a:spcBef>
                <a:spcAft>
                  <a:spcPts val="0"/>
                </a:spcAft>
                <a:buClr>
                  <a:schemeClr val="dk1"/>
                </a:buClr>
                <a:buSzPts val="1000"/>
                <a:buChar char="●"/>
              </a:pPr>
              <a:r>
                <a:rPr i="1" lang="en" sz="1000">
                  <a:solidFill>
                    <a:schemeClr val="dk1"/>
                  </a:solidFill>
                </a:rPr>
                <a:t>Vale et al. (2022)</a:t>
              </a:r>
              <a:r>
                <a:rPr lang="en" sz="1000">
                  <a:solidFill>
                    <a:schemeClr val="dk1"/>
                  </a:solidFill>
                </a:rPr>
                <a:t> — industry survey on design patterns usage</a:t>
              </a:r>
              <a:endParaRPr sz="1000">
                <a:solidFill>
                  <a:schemeClr val="dk1"/>
                </a:solidFill>
              </a:endParaRPr>
            </a:p>
            <a:p>
              <a:pPr indent="-292100" lvl="0" marL="457200" rtl="0" algn="l">
                <a:spcBef>
                  <a:spcPts val="0"/>
                </a:spcBef>
                <a:spcAft>
                  <a:spcPts val="0"/>
                </a:spcAft>
                <a:buClr>
                  <a:schemeClr val="dk1"/>
                </a:buClr>
                <a:buSzPts val="1000"/>
                <a:buChar char="●"/>
              </a:pPr>
              <a:r>
                <a:rPr i="1" lang="en" sz="1000">
                  <a:solidFill>
                    <a:schemeClr val="dk1"/>
                  </a:solidFill>
                </a:rPr>
                <a:t>Heinrich et al.</a:t>
              </a:r>
              <a:r>
                <a:rPr lang="en" sz="1000">
                  <a:solidFill>
                    <a:schemeClr val="dk1"/>
                  </a:solidFill>
                </a:rPr>
                <a:t> — microservice performance modeling is a research challenge</a:t>
              </a:r>
              <a:endParaRPr sz="1000">
                <a:solidFill>
                  <a:schemeClr val="dk1"/>
                </a:solidFill>
              </a:endParaRPr>
            </a:p>
            <a:p>
              <a:pPr indent="-292100" lvl="0" marL="457200" rtl="0" algn="l">
                <a:spcBef>
                  <a:spcPts val="0"/>
                </a:spcBef>
                <a:spcAft>
                  <a:spcPts val="0"/>
                </a:spcAft>
                <a:buClr>
                  <a:schemeClr val="dk1"/>
                </a:buClr>
                <a:buSzPts val="1000"/>
                <a:buChar char="●"/>
              </a:pPr>
              <a:r>
                <a:rPr lang="en" sz="1000">
                  <a:solidFill>
                    <a:schemeClr val="dk1"/>
                  </a:solidFill>
                </a:rPr>
                <a:t>Research on runtime monitoring, tracing, and ML-based anomaly detection</a:t>
              </a:r>
              <a:endParaRPr sz="1000">
                <a:solidFill>
                  <a:schemeClr val="dk1"/>
                </a:solidFill>
              </a:endParaRPr>
            </a:p>
            <a:p>
              <a:pPr indent="0" lvl="0" marL="0" rtl="0" algn="l">
                <a:spcBef>
                  <a:spcPts val="0"/>
                </a:spcBef>
                <a:spcAft>
                  <a:spcPts val="0"/>
                </a:spcAft>
                <a:buNone/>
              </a:pPr>
              <a:r>
                <a:rPr lang="en" sz="1100">
                  <a:solidFill>
                    <a:schemeClr val="dk1"/>
                  </a:solidFill>
                </a:rPr>
                <a:t>These papers describe patterns conceptually, but </a:t>
              </a:r>
              <a:r>
                <a:rPr b="1" lang="en" sz="1100">
                  <a:solidFill>
                    <a:schemeClr val="dk1"/>
                  </a:solidFill>
                </a:rPr>
                <a:t>none measure performance impact</a:t>
              </a:r>
              <a:r>
                <a:rPr lang="en" sz="1100">
                  <a:solidFill>
                    <a:schemeClr val="dk1"/>
                  </a:solidFill>
                </a:rPr>
                <a:t>.</a:t>
              </a:r>
              <a:endParaRPr sz="1128">
                <a:solidFill>
                  <a:schemeClr val="dk1"/>
                </a:solidFill>
              </a:endParaRPr>
            </a:p>
          </p:txBody>
        </p:sp>
        <p:sp>
          <p:nvSpPr>
            <p:cNvPr id="389" name="Google Shape;389;p35"/>
            <p:cNvSpPr/>
            <p:nvPr/>
          </p:nvSpPr>
          <p:spPr>
            <a:xfrm>
              <a:off x="3366472" y="2644866"/>
              <a:ext cx="2392500" cy="416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What are the previous research papers that the paper cites?</a:t>
              </a:r>
              <a:endParaRPr b="1" sz="1128"/>
            </a:p>
          </p:txBody>
        </p:sp>
      </p:grpSp>
      <p:grpSp>
        <p:nvGrpSpPr>
          <p:cNvPr id="390" name="Google Shape;390;p35"/>
          <p:cNvGrpSpPr/>
          <p:nvPr/>
        </p:nvGrpSpPr>
        <p:grpSpPr>
          <a:xfrm>
            <a:off x="3381300" y="3216225"/>
            <a:ext cx="5277600" cy="1495721"/>
            <a:chOff x="3366475" y="3110141"/>
            <a:chExt cx="5277600" cy="1722585"/>
          </a:xfrm>
        </p:grpSpPr>
        <p:sp>
          <p:nvSpPr>
            <p:cNvPr id="391" name="Google Shape;391;p35"/>
            <p:cNvSpPr/>
            <p:nvPr/>
          </p:nvSpPr>
          <p:spPr>
            <a:xfrm>
              <a:off x="3366475" y="3638126"/>
              <a:ext cx="5277600" cy="11946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298450" lvl="0" marL="457200" rtl="0" algn="l">
                <a:spcBef>
                  <a:spcPts val="0"/>
                </a:spcBef>
                <a:spcAft>
                  <a:spcPts val="0"/>
                </a:spcAft>
                <a:buClr>
                  <a:schemeClr val="dk1"/>
                </a:buClr>
                <a:buSzPts val="1100"/>
                <a:buChar char="●"/>
              </a:pPr>
              <a:r>
                <a:rPr lang="en" sz="1100">
                  <a:solidFill>
                    <a:schemeClr val="dk1"/>
                  </a:solidFill>
                </a:rPr>
                <a:t>This paper is the </a:t>
              </a:r>
              <a:r>
                <a:rPr b="1" lang="en" sz="1100">
                  <a:solidFill>
                    <a:schemeClr val="dk1"/>
                  </a:solidFill>
                </a:rPr>
                <a:t>first to quantify</a:t>
              </a:r>
              <a:r>
                <a:rPr lang="en" sz="1100">
                  <a:solidFill>
                    <a:schemeClr val="dk1"/>
                  </a:solidFill>
                </a:rPr>
                <a:t> how design patterns impact performance using Queueing Network models and simulations.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Prior work was descriptive or qualitative; this paper shows that some patterns </a:t>
              </a:r>
              <a:r>
                <a:rPr b="1" lang="en" sz="1100">
                  <a:solidFill>
                    <a:schemeClr val="dk1"/>
                  </a:solidFill>
                </a:rPr>
                <a:t>improve performance</a:t>
              </a:r>
              <a:r>
                <a:rPr lang="en" sz="1100">
                  <a:solidFill>
                    <a:schemeClr val="dk1"/>
                  </a:solidFill>
                </a:rPr>
                <a:t> while others can </a:t>
              </a:r>
              <a:r>
                <a:rPr b="1" lang="en" sz="1100">
                  <a:solidFill>
                    <a:schemeClr val="dk1"/>
                  </a:solidFill>
                </a:rPr>
                <a:t>hurt performance</a:t>
              </a:r>
              <a:r>
                <a:rPr lang="en" sz="1100">
                  <a:solidFill>
                    <a:schemeClr val="dk1"/>
                  </a:solidFill>
                </a:rPr>
                <a:t> (e.g., Gateway Offloading becomes a bottleneck).</a:t>
              </a:r>
              <a:endParaRPr sz="1100">
                <a:solidFill>
                  <a:schemeClr val="dk1"/>
                </a:solidFill>
              </a:endParaRPr>
            </a:p>
          </p:txBody>
        </p:sp>
        <p:sp>
          <p:nvSpPr>
            <p:cNvPr id="392" name="Google Shape;392;p35"/>
            <p:cNvSpPr/>
            <p:nvPr/>
          </p:nvSpPr>
          <p:spPr>
            <a:xfrm>
              <a:off x="3366475" y="3110141"/>
              <a:ext cx="5277600" cy="5280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What are the key differences that the paper contributes that the previous research papers did not?</a:t>
              </a:r>
              <a:endParaRPr b="1" sz="1128"/>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6"/>
          <p:cNvSpPr txBox="1"/>
          <p:nvPr>
            <p:ph type="title"/>
          </p:nvPr>
        </p:nvSpPr>
        <p:spPr>
          <a:xfrm>
            <a:off x="311700" y="169775"/>
            <a:ext cx="27399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61">
                <a:latin typeface="Impact"/>
                <a:ea typeface="Impact"/>
                <a:cs typeface="Impact"/>
                <a:sym typeface="Impact"/>
              </a:rPr>
              <a:t>CRITIQUE </a:t>
            </a:r>
            <a:endParaRPr>
              <a:latin typeface="Impact"/>
              <a:ea typeface="Impact"/>
              <a:cs typeface="Impact"/>
              <a:sym typeface="Impact"/>
            </a:endParaRPr>
          </a:p>
        </p:txBody>
      </p:sp>
      <p:sp>
        <p:nvSpPr>
          <p:cNvPr id="398" name="Google Shape;398;p36"/>
          <p:cNvSpPr/>
          <p:nvPr/>
        </p:nvSpPr>
        <p:spPr>
          <a:xfrm>
            <a:off x="311700" y="1011975"/>
            <a:ext cx="2771400" cy="5727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00">
                <a:solidFill>
                  <a:schemeClr val="dk1"/>
                </a:solidFill>
              </a:rPr>
              <a:t>Q1. How does this research differ from the previous research?</a:t>
            </a:r>
            <a:endParaRPr sz="1200"/>
          </a:p>
        </p:txBody>
      </p:sp>
      <p:sp>
        <p:nvSpPr>
          <p:cNvPr id="399" name="Google Shape;399;p36"/>
          <p:cNvSpPr/>
          <p:nvPr/>
        </p:nvSpPr>
        <p:spPr>
          <a:xfrm>
            <a:off x="311700" y="1962238"/>
            <a:ext cx="2771400" cy="528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b="1" lang="en" sz="1238">
                <a:solidFill>
                  <a:schemeClr val="dk1"/>
                </a:solidFill>
              </a:rPr>
              <a:t>Q2. How appropriate is the research methodology?</a:t>
            </a:r>
            <a:endParaRPr b="1" sz="1684"/>
          </a:p>
        </p:txBody>
      </p:sp>
      <p:sp>
        <p:nvSpPr>
          <p:cNvPr id="400" name="Google Shape;400;p36"/>
          <p:cNvSpPr/>
          <p:nvPr/>
        </p:nvSpPr>
        <p:spPr>
          <a:xfrm>
            <a:off x="311700" y="2868425"/>
            <a:ext cx="2771400" cy="6360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lnSpc>
                <a:spcPct val="115000"/>
              </a:lnSpc>
              <a:spcBef>
                <a:spcPts val="0"/>
              </a:spcBef>
              <a:spcAft>
                <a:spcPts val="0"/>
              </a:spcAft>
              <a:buNone/>
            </a:pPr>
            <a:r>
              <a:t/>
            </a:r>
            <a:endParaRPr sz="1300">
              <a:solidFill>
                <a:schemeClr val="dk1"/>
              </a:solidFill>
            </a:endParaRPr>
          </a:p>
          <a:p>
            <a:pPr indent="0" lvl="0" marL="0" rtl="0" algn="ctr">
              <a:lnSpc>
                <a:spcPct val="115000"/>
              </a:lnSpc>
              <a:spcBef>
                <a:spcPts val="0"/>
              </a:spcBef>
              <a:spcAft>
                <a:spcPts val="0"/>
              </a:spcAft>
              <a:buNone/>
            </a:pPr>
            <a:r>
              <a:rPr lang="en" sz="1200">
                <a:solidFill>
                  <a:schemeClr val="dk1"/>
                </a:solidFill>
              </a:rPr>
              <a:t>Q3. How valid is the result and interpretation?</a:t>
            </a:r>
            <a:endParaRPr sz="1200">
              <a:solidFill>
                <a:schemeClr val="dk1"/>
              </a:solidFill>
            </a:endParaRPr>
          </a:p>
          <a:p>
            <a:pPr indent="0" lvl="0" marL="0" rtl="0" algn="ctr">
              <a:spcBef>
                <a:spcPts val="0"/>
              </a:spcBef>
              <a:spcAft>
                <a:spcPts val="0"/>
              </a:spcAft>
              <a:buNone/>
            </a:pPr>
            <a:r>
              <a:t/>
            </a:r>
            <a:endParaRPr sz="1300"/>
          </a:p>
        </p:txBody>
      </p:sp>
      <p:sp>
        <p:nvSpPr>
          <p:cNvPr id="401" name="Google Shape;401;p36"/>
          <p:cNvSpPr/>
          <p:nvPr/>
        </p:nvSpPr>
        <p:spPr>
          <a:xfrm>
            <a:off x="311700" y="3882000"/>
            <a:ext cx="2771400" cy="5286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Q4. How well does the paper present the research?</a:t>
            </a:r>
            <a:endParaRPr sz="1684"/>
          </a:p>
        </p:txBody>
      </p:sp>
      <p:grpSp>
        <p:nvGrpSpPr>
          <p:cNvPr id="402" name="Google Shape;402;p36"/>
          <p:cNvGrpSpPr/>
          <p:nvPr/>
        </p:nvGrpSpPr>
        <p:grpSpPr>
          <a:xfrm>
            <a:off x="3366368" y="593036"/>
            <a:ext cx="5292456" cy="948564"/>
            <a:chOff x="3366475" y="3200612"/>
            <a:chExt cx="2392503" cy="948564"/>
          </a:xfrm>
        </p:grpSpPr>
        <p:sp>
          <p:nvSpPr>
            <p:cNvPr id="403" name="Google Shape;403;p36"/>
            <p:cNvSpPr/>
            <p:nvPr/>
          </p:nvSpPr>
          <p:spPr>
            <a:xfrm>
              <a:off x="3366478" y="3475676"/>
              <a:ext cx="2392500" cy="673500"/>
            </a:xfrm>
            <a:prstGeom prst="rect">
              <a:avLst/>
            </a:prstGeom>
            <a:solidFill>
              <a:schemeClr val="lt2"/>
            </a:solidFill>
            <a:ln cap="flat" cmpd="sng" w="9000">
              <a:solidFill>
                <a:schemeClr val="dk2"/>
              </a:solidFill>
              <a:prstDash val="solid"/>
              <a:round/>
              <a:headEnd len="sm" w="sm" type="none"/>
              <a:tailEnd len="sm" w="sm" type="none"/>
            </a:ln>
          </p:spPr>
          <p:txBody>
            <a:bodyPr anchorCtr="0" anchor="t" bIns="86425" lIns="86425" spcFirstLastPara="1" rIns="86425" wrap="square" tIns="86425">
              <a:noAutofit/>
            </a:bodyPr>
            <a:lstStyle/>
            <a:p>
              <a:pPr indent="0" lvl="0" marL="0" rtl="0" algn="l">
                <a:spcBef>
                  <a:spcPts val="0"/>
                </a:spcBef>
                <a:spcAft>
                  <a:spcPts val="0"/>
                </a:spcAft>
                <a:buNone/>
              </a:pPr>
              <a:r>
                <a:rPr lang="en" sz="1100">
                  <a:solidFill>
                    <a:schemeClr val="dk1"/>
                  </a:solidFill>
                </a:rPr>
                <a:t>The paper uses </a:t>
              </a:r>
              <a:r>
                <a:rPr b="1" lang="en" sz="1100">
                  <a:solidFill>
                    <a:schemeClr val="dk1"/>
                  </a:solidFill>
                </a:rPr>
                <a:t>model-based performance evaluation</a:t>
              </a:r>
              <a:r>
                <a:rPr lang="en" sz="1100">
                  <a:solidFill>
                    <a:schemeClr val="dk1"/>
                  </a:solidFill>
                </a:rPr>
                <a:t>, building Queueing Network (QN) models and Petri Nets (for CQRS synchronization), then running simulations using JSIMgraph.</a:t>
              </a:r>
              <a:endParaRPr sz="1100">
                <a:solidFill>
                  <a:schemeClr val="dk1"/>
                </a:solidFill>
              </a:endParaRPr>
            </a:p>
          </p:txBody>
        </p:sp>
        <p:sp>
          <p:nvSpPr>
            <p:cNvPr id="404" name="Google Shape;404;p36"/>
            <p:cNvSpPr/>
            <p:nvPr/>
          </p:nvSpPr>
          <p:spPr>
            <a:xfrm>
              <a:off x="3366475" y="3200612"/>
              <a:ext cx="23925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What research methodology is used?</a:t>
              </a:r>
              <a:endParaRPr b="1" sz="1128"/>
            </a:p>
          </p:txBody>
        </p:sp>
      </p:grpSp>
      <p:grpSp>
        <p:nvGrpSpPr>
          <p:cNvPr id="405" name="Google Shape;405;p36"/>
          <p:cNvGrpSpPr/>
          <p:nvPr/>
        </p:nvGrpSpPr>
        <p:grpSpPr>
          <a:xfrm>
            <a:off x="3366375" y="1848061"/>
            <a:ext cx="5292449" cy="1124624"/>
            <a:chOff x="3366472" y="2868519"/>
            <a:chExt cx="2392500" cy="1524294"/>
          </a:xfrm>
        </p:grpSpPr>
        <p:sp>
          <p:nvSpPr>
            <p:cNvPr id="406" name="Google Shape;406;p36"/>
            <p:cNvSpPr/>
            <p:nvPr/>
          </p:nvSpPr>
          <p:spPr>
            <a:xfrm>
              <a:off x="3366472" y="3380313"/>
              <a:ext cx="2392500" cy="10125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research question asks whether design patterns impact performance, and modeling + simulation allow answering this </a:t>
              </a:r>
              <a:r>
                <a:rPr b="1" lang="en" sz="1100">
                  <a:solidFill>
                    <a:schemeClr val="dk1"/>
                  </a:solidFill>
                </a:rPr>
                <a:t>before implementation</a:t>
              </a:r>
              <a:r>
                <a:rPr lang="en" sz="1100">
                  <a:solidFill>
                    <a:schemeClr val="dk1"/>
                  </a:solidFill>
                </a:rPr>
                <a:t>, avoiding runtime noise.</a:t>
              </a:r>
              <a:endParaRPr sz="1128">
                <a:solidFill>
                  <a:schemeClr val="dk1"/>
                </a:solidFill>
              </a:endParaRPr>
            </a:p>
          </p:txBody>
        </p:sp>
        <p:sp>
          <p:nvSpPr>
            <p:cNvPr id="407" name="Google Shape;407;p36"/>
            <p:cNvSpPr/>
            <p:nvPr/>
          </p:nvSpPr>
          <p:spPr>
            <a:xfrm>
              <a:off x="3366472" y="2868519"/>
              <a:ext cx="2392500" cy="5118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Is the experimental procedure or study design appropriate to answer the research question?</a:t>
              </a:r>
              <a:endParaRPr b="1" sz="1128"/>
            </a:p>
          </p:txBody>
        </p:sp>
      </p:grpSp>
      <p:grpSp>
        <p:nvGrpSpPr>
          <p:cNvPr id="408" name="Google Shape;408;p36"/>
          <p:cNvGrpSpPr/>
          <p:nvPr/>
        </p:nvGrpSpPr>
        <p:grpSpPr>
          <a:xfrm>
            <a:off x="3381300" y="3279150"/>
            <a:ext cx="5277600" cy="911442"/>
            <a:chOff x="3366475" y="3182610"/>
            <a:chExt cx="5277600" cy="1049686"/>
          </a:xfrm>
        </p:grpSpPr>
        <p:sp>
          <p:nvSpPr>
            <p:cNvPr id="409" name="Google Shape;409;p36"/>
            <p:cNvSpPr/>
            <p:nvPr/>
          </p:nvSpPr>
          <p:spPr>
            <a:xfrm>
              <a:off x="3366475" y="3572595"/>
              <a:ext cx="5277600" cy="6597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paper provides full model parameters, simulation configuration, and even a replication package with all models and data.</a:t>
              </a:r>
              <a:endParaRPr sz="1100">
                <a:solidFill>
                  <a:schemeClr val="dk1"/>
                </a:solidFill>
              </a:endParaRPr>
            </a:p>
          </p:txBody>
        </p:sp>
        <p:sp>
          <p:nvSpPr>
            <p:cNvPr id="410" name="Google Shape;410;p36"/>
            <p:cNvSpPr/>
            <p:nvPr/>
          </p:nvSpPr>
          <p:spPr>
            <a:xfrm>
              <a:off x="3366475" y="3182610"/>
              <a:ext cx="5277600" cy="3900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provide sufficient detail about the research methodology?</a:t>
              </a:r>
              <a:endParaRPr b="1" sz="1128"/>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7"/>
          <p:cNvSpPr txBox="1"/>
          <p:nvPr>
            <p:ph type="title"/>
          </p:nvPr>
        </p:nvSpPr>
        <p:spPr>
          <a:xfrm>
            <a:off x="311700" y="169775"/>
            <a:ext cx="27399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61">
                <a:latin typeface="Impact"/>
                <a:ea typeface="Impact"/>
                <a:cs typeface="Impact"/>
                <a:sym typeface="Impact"/>
              </a:rPr>
              <a:t>CRITIQUE </a:t>
            </a:r>
            <a:endParaRPr>
              <a:latin typeface="Impact"/>
              <a:ea typeface="Impact"/>
              <a:cs typeface="Impact"/>
              <a:sym typeface="Impact"/>
            </a:endParaRPr>
          </a:p>
        </p:txBody>
      </p:sp>
      <p:sp>
        <p:nvSpPr>
          <p:cNvPr id="416" name="Google Shape;416;p37"/>
          <p:cNvSpPr/>
          <p:nvPr/>
        </p:nvSpPr>
        <p:spPr>
          <a:xfrm>
            <a:off x="311700" y="1011975"/>
            <a:ext cx="2771400" cy="5727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00">
                <a:solidFill>
                  <a:schemeClr val="dk1"/>
                </a:solidFill>
              </a:rPr>
              <a:t>Q1. How does this research differ from the previous research?</a:t>
            </a:r>
            <a:endParaRPr sz="1200"/>
          </a:p>
        </p:txBody>
      </p:sp>
      <p:sp>
        <p:nvSpPr>
          <p:cNvPr id="417" name="Google Shape;417;p37"/>
          <p:cNvSpPr/>
          <p:nvPr/>
        </p:nvSpPr>
        <p:spPr>
          <a:xfrm>
            <a:off x="311700" y="2868425"/>
            <a:ext cx="2771400" cy="6360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lnSpc>
                <a:spcPct val="115000"/>
              </a:lnSpc>
              <a:spcBef>
                <a:spcPts val="0"/>
              </a:spcBef>
              <a:spcAft>
                <a:spcPts val="0"/>
              </a:spcAft>
              <a:buNone/>
            </a:pPr>
            <a:r>
              <a:t/>
            </a:r>
            <a:endParaRPr sz="1300">
              <a:solidFill>
                <a:schemeClr val="dk1"/>
              </a:solidFill>
            </a:endParaRPr>
          </a:p>
          <a:p>
            <a:pPr indent="0" lvl="0" marL="0" rtl="0" algn="ctr">
              <a:lnSpc>
                <a:spcPct val="115000"/>
              </a:lnSpc>
              <a:spcBef>
                <a:spcPts val="0"/>
              </a:spcBef>
              <a:spcAft>
                <a:spcPts val="0"/>
              </a:spcAft>
              <a:buNone/>
            </a:pPr>
            <a:r>
              <a:rPr b="1" lang="en" sz="1200">
                <a:solidFill>
                  <a:schemeClr val="dk1"/>
                </a:solidFill>
              </a:rPr>
              <a:t>Q3. How valid is the result and interpretation?</a:t>
            </a:r>
            <a:endParaRPr b="1" sz="1200">
              <a:solidFill>
                <a:schemeClr val="dk1"/>
              </a:solidFill>
            </a:endParaRPr>
          </a:p>
          <a:p>
            <a:pPr indent="0" lvl="0" marL="0" rtl="0" algn="ctr">
              <a:spcBef>
                <a:spcPts val="0"/>
              </a:spcBef>
              <a:spcAft>
                <a:spcPts val="0"/>
              </a:spcAft>
              <a:buNone/>
            </a:pPr>
            <a:r>
              <a:t/>
            </a:r>
            <a:endParaRPr sz="1300"/>
          </a:p>
        </p:txBody>
      </p:sp>
      <p:sp>
        <p:nvSpPr>
          <p:cNvPr id="418" name="Google Shape;418;p37"/>
          <p:cNvSpPr/>
          <p:nvPr/>
        </p:nvSpPr>
        <p:spPr>
          <a:xfrm>
            <a:off x="311700" y="3882000"/>
            <a:ext cx="2771400" cy="5286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Q4. How well does the paper present the research?</a:t>
            </a:r>
            <a:endParaRPr sz="1684"/>
          </a:p>
        </p:txBody>
      </p:sp>
      <p:grpSp>
        <p:nvGrpSpPr>
          <p:cNvPr id="419" name="Google Shape;419;p37"/>
          <p:cNvGrpSpPr/>
          <p:nvPr/>
        </p:nvGrpSpPr>
        <p:grpSpPr>
          <a:xfrm>
            <a:off x="3366368" y="593036"/>
            <a:ext cx="5292456" cy="948564"/>
            <a:chOff x="3366475" y="3200612"/>
            <a:chExt cx="2392503" cy="948564"/>
          </a:xfrm>
        </p:grpSpPr>
        <p:sp>
          <p:nvSpPr>
            <p:cNvPr id="420" name="Google Shape;420;p37"/>
            <p:cNvSpPr/>
            <p:nvPr/>
          </p:nvSpPr>
          <p:spPr>
            <a:xfrm>
              <a:off x="3366478" y="3475676"/>
              <a:ext cx="2392500" cy="673500"/>
            </a:xfrm>
            <a:prstGeom prst="rect">
              <a:avLst/>
            </a:prstGeom>
            <a:solidFill>
              <a:schemeClr val="lt2"/>
            </a:solidFill>
            <a:ln cap="flat" cmpd="sng" w="9000">
              <a:solidFill>
                <a:schemeClr val="dk2"/>
              </a:solidFill>
              <a:prstDash val="solid"/>
              <a:round/>
              <a:headEnd len="sm" w="sm" type="none"/>
              <a:tailEnd len="sm" w="sm" type="none"/>
            </a:ln>
          </p:spPr>
          <p:txBody>
            <a:bodyPr anchorCtr="0" anchor="t"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data comes from </a:t>
              </a:r>
              <a:r>
                <a:rPr i="1" lang="en" sz="1100">
                  <a:solidFill>
                    <a:schemeClr val="dk1"/>
                  </a:solidFill>
                </a:rPr>
                <a:t>formal performance models</a:t>
              </a:r>
              <a:r>
                <a:rPr lang="en" sz="1100">
                  <a:solidFill>
                    <a:schemeClr val="dk1"/>
                  </a:solidFill>
                </a:rPr>
                <a:t> (Queueing Network models and Petri Nets), not opinions or ad-hoc measurements. All model parameters and workloads are explicitly defined, making the data reliable and controlled.</a:t>
              </a:r>
              <a:endParaRPr sz="1100">
                <a:solidFill>
                  <a:schemeClr val="dk1"/>
                </a:solidFill>
              </a:endParaRPr>
            </a:p>
          </p:txBody>
        </p:sp>
        <p:sp>
          <p:nvSpPr>
            <p:cNvPr id="421" name="Google Shape;421;p37"/>
            <p:cNvSpPr/>
            <p:nvPr/>
          </p:nvSpPr>
          <p:spPr>
            <a:xfrm>
              <a:off x="3366475" y="3200612"/>
              <a:ext cx="2392500" cy="2751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Is the data source reliable?</a:t>
              </a:r>
              <a:endParaRPr b="1" sz="1128"/>
            </a:p>
          </p:txBody>
        </p:sp>
      </p:grpSp>
      <p:grpSp>
        <p:nvGrpSpPr>
          <p:cNvPr id="422" name="Google Shape;422;p37"/>
          <p:cNvGrpSpPr/>
          <p:nvPr/>
        </p:nvGrpSpPr>
        <p:grpSpPr>
          <a:xfrm>
            <a:off x="3366375" y="1848052"/>
            <a:ext cx="5292449" cy="1124638"/>
            <a:chOff x="3366472" y="2868507"/>
            <a:chExt cx="2392500" cy="1524313"/>
          </a:xfrm>
        </p:grpSpPr>
        <p:sp>
          <p:nvSpPr>
            <p:cNvPr id="423" name="Google Shape;423;p37"/>
            <p:cNvSpPr/>
            <p:nvPr/>
          </p:nvSpPr>
          <p:spPr>
            <a:xfrm>
              <a:off x="3366472" y="3263020"/>
              <a:ext cx="2392500" cy="11298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results are analyzed using response time and resource utilization across different workload mixes, showing how bottlenecks shift when demand changes. The analysis connects the simulation output directly to the research questions.</a:t>
              </a:r>
              <a:endParaRPr sz="1128">
                <a:solidFill>
                  <a:schemeClr val="dk1"/>
                </a:solidFill>
              </a:endParaRPr>
            </a:p>
          </p:txBody>
        </p:sp>
        <p:sp>
          <p:nvSpPr>
            <p:cNvPr id="424" name="Google Shape;424;p37"/>
            <p:cNvSpPr/>
            <p:nvPr/>
          </p:nvSpPr>
          <p:spPr>
            <a:xfrm>
              <a:off x="3366472" y="2868507"/>
              <a:ext cx="2392500" cy="3945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analyze the result rigorously?</a:t>
              </a:r>
              <a:endParaRPr b="1" sz="1128"/>
            </a:p>
          </p:txBody>
        </p:sp>
      </p:grpSp>
      <p:grpSp>
        <p:nvGrpSpPr>
          <p:cNvPr id="425" name="Google Shape;425;p37"/>
          <p:cNvGrpSpPr/>
          <p:nvPr/>
        </p:nvGrpSpPr>
        <p:grpSpPr>
          <a:xfrm>
            <a:off x="3381300" y="3279150"/>
            <a:ext cx="5277600" cy="1131557"/>
            <a:chOff x="3366475" y="3182610"/>
            <a:chExt cx="5277600" cy="1303186"/>
          </a:xfrm>
        </p:grpSpPr>
        <p:sp>
          <p:nvSpPr>
            <p:cNvPr id="426" name="Google Shape;426;p37"/>
            <p:cNvSpPr/>
            <p:nvPr/>
          </p:nvSpPr>
          <p:spPr>
            <a:xfrm>
              <a:off x="3366475" y="3572596"/>
              <a:ext cx="5277600" cy="9132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Simulations include </a:t>
              </a:r>
              <a:r>
                <a:rPr b="1" lang="en" sz="1100">
                  <a:solidFill>
                    <a:schemeClr val="dk1"/>
                  </a:solidFill>
                </a:rPr>
                <a:t>99% confidence intervals</a:t>
              </a:r>
              <a:r>
                <a:rPr lang="en" sz="1100">
                  <a:solidFill>
                    <a:schemeClr val="dk1"/>
                  </a:solidFill>
                </a:rPr>
                <a:t> to ensure statistical accuracy. The paper also documents simulation configuration, model parameters, and execution details.</a:t>
              </a:r>
              <a:endParaRPr sz="1100">
                <a:solidFill>
                  <a:schemeClr val="dk1"/>
                </a:solidFill>
              </a:endParaRPr>
            </a:p>
          </p:txBody>
        </p:sp>
        <p:sp>
          <p:nvSpPr>
            <p:cNvPr id="427" name="Google Shape;427;p37"/>
            <p:cNvSpPr/>
            <p:nvPr/>
          </p:nvSpPr>
          <p:spPr>
            <a:xfrm>
              <a:off x="3366475" y="3182610"/>
              <a:ext cx="5277600" cy="3900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provide a sound statistical analysis result?</a:t>
              </a:r>
              <a:endParaRPr b="1" sz="1128"/>
            </a:p>
          </p:txBody>
        </p:sp>
      </p:grpSp>
      <p:sp>
        <p:nvSpPr>
          <p:cNvPr id="428" name="Google Shape;428;p37"/>
          <p:cNvSpPr/>
          <p:nvPr/>
        </p:nvSpPr>
        <p:spPr>
          <a:xfrm>
            <a:off x="311700" y="1962238"/>
            <a:ext cx="2771400" cy="5286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Q2. How appropriate is the research methodology?</a:t>
            </a:r>
            <a:endParaRPr sz="1684"/>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8"/>
          <p:cNvSpPr txBox="1"/>
          <p:nvPr>
            <p:ph type="title"/>
          </p:nvPr>
        </p:nvSpPr>
        <p:spPr>
          <a:xfrm>
            <a:off x="311700" y="169775"/>
            <a:ext cx="27399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61">
                <a:latin typeface="Impact"/>
                <a:ea typeface="Impact"/>
                <a:cs typeface="Impact"/>
                <a:sym typeface="Impact"/>
              </a:rPr>
              <a:t>CRITIQUE </a:t>
            </a:r>
            <a:endParaRPr>
              <a:latin typeface="Impact"/>
              <a:ea typeface="Impact"/>
              <a:cs typeface="Impact"/>
              <a:sym typeface="Impact"/>
            </a:endParaRPr>
          </a:p>
        </p:txBody>
      </p:sp>
      <p:sp>
        <p:nvSpPr>
          <p:cNvPr id="434" name="Google Shape;434;p38"/>
          <p:cNvSpPr/>
          <p:nvPr/>
        </p:nvSpPr>
        <p:spPr>
          <a:xfrm>
            <a:off x="311700" y="1011975"/>
            <a:ext cx="2771400" cy="5727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00">
                <a:solidFill>
                  <a:schemeClr val="dk1"/>
                </a:solidFill>
              </a:rPr>
              <a:t>Q1. How does this research differ from the previous research?</a:t>
            </a:r>
            <a:endParaRPr sz="1200"/>
          </a:p>
        </p:txBody>
      </p:sp>
      <p:sp>
        <p:nvSpPr>
          <p:cNvPr id="435" name="Google Shape;435;p38"/>
          <p:cNvSpPr/>
          <p:nvPr/>
        </p:nvSpPr>
        <p:spPr>
          <a:xfrm>
            <a:off x="311700" y="1962238"/>
            <a:ext cx="2771400" cy="5286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Q2. How appropriate is the research methodology?</a:t>
            </a:r>
            <a:endParaRPr sz="1684"/>
          </a:p>
        </p:txBody>
      </p:sp>
      <p:sp>
        <p:nvSpPr>
          <p:cNvPr id="436" name="Google Shape;436;p38"/>
          <p:cNvSpPr/>
          <p:nvPr/>
        </p:nvSpPr>
        <p:spPr>
          <a:xfrm>
            <a:off x="311700" y="2868425"/>
            <a:ext cx="2771400" cy="6360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lnSpc>
                <a:spcPct val="115000"/>
              </a:lnSpc>
              <a:spcBef>
                <a:spcPts val="0"/>
              </a:spcBef>
              <a:spcAft>
                <a:spcPts val="0"/>
              </a:spcAft>
              <a:buNone/>
            </a:pPr>
            <a:r>
              <a:t/>
            </a:r>
            <a:endParaRPr b="1" sz="1300">
              <a:solidFill>
                <a:schemeClr val="dk1"/>
              </a:solidFill>
            </a:endParaRPr>
          </a:p>
          <a:p>
            <a:pPr indent="0" lvl="0" marL="0" rtl="0" algn="ctr">
              <a:lnSpc>
                <a:spcPct val="115000"/>
              </a:lnSpc>
              <a:spcBef>
                <a:spcPts val="0"/>
              </a:spcBef>
              <a:spcAft>
                <a:spcPts val="0"/>
              </a:spcAft>
              <a:buNone/>
            </a:pPr>
            <a:r>
              <a:rPr b="1" lang="en" sz="1200">
                <a:solidFill>
                  <a:schemeClr val="dk1"/>
                </a:solidFill>
              </a:rPr>
              <a:t>Q3. How valid is the result and interpretation?</a:t>
            </a:r>
            <a:endParaRPr b="1" sz="1200">
              <a:solidFill>
                <a:schemeClr val="dk1"/>
              </a:solidFill>
            </a:endParaRPr>
          </a:p>
          <a:p>
            <a:pPr indent="0" lvl="0" marL="0" rtl="0" algn="ctr">
              <a:spcBef>
                <a:spcPts val="0"/>
              </a:spcBef>
              <a:spcAft>
                <a:spcPts val="0"/>
              </a:spcAft>
              <a:buNone/>
            </a:pPr>
            <a:r>
              <a:t/>
            </a:r>
            <a:endParaRPr sz="1300"/>
          </a:p>
        </p:txBody>
      </p:sp>
      <p:sp>
        <p:nvSpPr>
          <p:cNvPr id="437" name="Google Shape;437;p38"/>
          <p:cNvSpPr/>
          <p:nvPr/>
        </p:nvSpPr>
        <p:spPr>
          <a:xfrm>
            <a:off x="311700" y="3882000"/>
            <a:ext cx="2771400" cy="528600"/>
          </a:xfrm>
          <a:prstGeom prst="roundRect">
            <a:avLst>
              <a:gd fmla="val 16667" name="adj"/>
            </a:avLst>
          </a:prstGeom>
          <a:solidFill>
            <a:srgbClr val="F3F3F3"/>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Q4. How well does the paper present the research?</a:t>
            </a:r>
            <a:endParaRPr sz="1684"/>
          </a:p>
        </p:txBody>
      </p:sp>
      <p:grpSp>
        <p:nvGrpSpPr>
          <p:cNvPr id="438" name="Google Shape;438;p38"/>
          <p:cNvGrpSpPr/>
          <p:nvPr/>
        </p:nvGrpSpPr>
        <p:grpSpPr>
          <a:xfrm>
            <a:off x="3366375" y="448269"/>
            <a:ext cx="5292449" cy="1093331"/>
            <a:chOff x="3366478" y="3055845"/>
            <a:chExt cx="2392500" cy="1093331"/>
          </a:xfrm>
        </p:grpSpPr>
        <p:sp>
          <p:nvSpPr>
            <p:cNvPr id="439" name="Google Shape;439;p38"/>
            <p:cNvSpPr/>
            <p:nvPr/>
          </p:nvSpPr>
          <p:spPr>
            <a:xfrm>
              <a:off x="3366478" y="3475676"/>
              <a:ext cx="2392500" cy="673500"/>
            </a:xfrm>
            <a:prstGeom prst="rect">
              <a:avLst/>
            </a:prstGeom>
            <a:solidFill>
              <a:schemeClr val="lt2"/>
            </a:solidFill>
            <a:ln cap="flat" cmpd="sng" w="9000">
              <a:solidFill>
                <a:schemeClr val="dk2"/>
              </a:solidFill>
              <a:prstDash val="solid"/>
              <a:round/>
              <a:headEnd len="sm" w="sm" type="none"/>
              <a:tailEnd len="sm" w="sm" type="none"/>
            </a:ln>
          </p:spPr>
          <p:txBody>
            <a:bodyPr anchorCtr="0" anchor="t"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authors clearly acknowledge limitations. They note that the models abstract away real-world complexities, parameter choices may influence results, and findings might not generalize to all microservice architectures.</a:t>
              </a:r>
              <a:endParaRPr sz="1100">
                <a:solidFill>
                  <a:schemeClr val="dk1"/>
                </a:solidFill>
              </a:endParaRPr>
            </a:p>
          </p:txBody>
        </p:sp>
        <p:sp>
          <p:nvSpPr>
            <p:cNvPr id="440" name="Google Shape;440;p38"/>
            <p:cNvSpPr/>
            <p:nvPr/>
          </p:nvSpPr>
          <p:spPr>
            <a:xfrm>
              <a:off x="3366478" y="3055845"/>
              <a:ext cx="2392500" cy="4197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identify potential weaknesses of the result or interpretation?</a:t>
              </a:r>
              <a:endParaRPr b="1" sz="1128"/>
            </a:p>
          </p:txBody>
        </p:sp>
      </p:grpSp>
      <p:grpSp>
        <p:nvGrpSpPr>
          <p:cNvPr id="441" name="Google Shape;441;p38"/>
          <p:cNvGrpSpPr/>
          <p:nvPr/>
        </p:nvGrpSpPr>
        <p:grpSpPr>
          <a:xfrm>
            <a:off x="3366375" y="1848052"/>
            <a:ext cx="5292449" cy="1124638"/>
            <a:chOff x="3366472" y="2868507"/>
            <a:chExt cx="2392500" cy="1524313"/>
          </a:xfrm>
        </p:grpSpPr>
        <p:sp>
          <p:nvSpPr>
            <p:cNvPr id="442" name="Google Shape;442;p38"/>
            <p:cNvSpPr/>
            <p:nvPr/>
          </p:nvSpPr>
          <p:spPr>
            <a:xfrm>
              <a:off x="3366472" y="3263020"/>
              <a:ext cx="2392500" cy="11298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paper provides a complete replication package that includes all performance models, the simulation files, and the parameter settings. This allows other researchers to reproduce the results and verify the findings.</a:t>
              </a:r>
              <a:endParaRPr sz="1128">
                <a:solidFill>
                  <a:schemeClr val="dk1"/>
                </a:solidFill>
              </a:endParaRPr>
            </a:p>
          </p:txBody>
        </p:sp>
        <p:sp>
          <p:nvSpPr>
            <p:cNvPr id="443" name="Google Shape;443;p38"/>
            <p:cNvSpPr/>
            <p:nvPr/>
          </p:nvSpPr>
          <p:spPr>
            <a:xfrm>
              <a:off x="3366472" y="2868507"/>
              <a:ext cx="2392500" cy="3945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Does the paper discuss the reproducibility of the result?</a:t>
              </a:r>
              <a:endParaRPr b="1" sz="1128"/>
            </a:p>
          </p:txBody>
        </p:sp>
      </p:grpSp>
      <p:grpSp>
        <p:nvGrpSpPr>
          <p:cNvPr id="444" name="Google Shape;444;p38"/>
          <p:cNvGrpSpPr/>
          <p:nvPr/>
        </p:nvGrpSpPr>
        <p:grpSpPr>
          <a:xfrm>
            <a:off x="3381300" y="3279150"/>
            <a:ext cx="5277600" cy="1131557"/>
            <a:chOff x="3366475" y="3182610"/>
            <a:chExt cx="5277600" cy="1303186"/>
          </a:xfrm>
        </p:grpSpPr>
        <p:sp>
          <p:nvSpPr>
            <p:cNvPr id="445" name="Google Shape;445;p38"/>
            <p:cNvSpPr/>
            <p:nvPr/>
          </p:nvSpPr>
          <p:spPr>
            <a:xfrm>
              <a:off x="3366475" y="3572596"/>
              <a:ext cx="5277600" cy="9132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Performance graphs demonstrate when patterns improve performance and when they degrade it. The paper’s conclusions match the simulation results (e.g., Gateway Offloading becomes a bottleneck when too much work is pushed to it).</a:t>
              </a:r>
              <a:endParaRPr sz="1100">
                <a:solidFill>
                  <a:schemeClr val="dk1"/>
                </a:solidFill>
              </a:endParaRPr>
            </a:p>
          </p:txBody>
        </p:sp>
        <p:sp>
          <p:nvSpPr>
            <p:cNvPr id="446" name="Google Shape;446;p38"/>
            <p:cNvSpPr/>
            <p:nvPr/>
          </p:nvSpPr>
          <p:spPr>
            <a:xfrm>
              <a:off x="3366475" y="3182610"/>
              <a:ext cx="5277600" cy="3900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Are the conclusions supported by the evidence presented?</a:t>
              </a:r>
              <a:endParaRPr b="1" sz="1128"/>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9"/>
          <p:cNvSpPr txBox="1"/>
          <p:nvPr>
            <p:ph type="title"/>
          </p:nvPr>
        </p:nvSpPr>
        <p:spPr>
          <a:xfrm>
            <a:off x="311700" y="169775"/>
            <a:ext cx="27399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sz="1861">
                <a:latin typeface="Impact"/>
                <a:ea typeface="Impact"/>
                <a:cs typeface="Impact"/>
                <a:sym typeface="Impact"/>
              </a:rPr>
              <a:t>CRITIQUE </a:t>
            </a:r>
            <a:endParaRPr>
              <a:latin typeface="Impact"/>
              <a:ea typeface="Impact"/>
              <a:cs typeface="Impact"/>
              <a:sym typeface="Impact"/>
            </a:endParaRPr>
          </a:p>
        </p:txBody>
      </p:sp>
      <p:sp>
        <p:nvSpPr>
          <p:cNvPr id="452" name="Google Shape;452;p39"/>
          <p:cNvSpPr/>
          <p:nvPr/>
        </p:nvSpPr>
        <p:spPr>
          <a:xfrm>
            <a:off x="311700" y="1011975"/>
            <a:ext cx="2771400" cy="5727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00">
                <a:solidFill>
                  <a:schemeClr val="dk1"/>
                </a:solidFill>
              </a:rPr>
              <a:t>Q1. How does this research differ from the previous research?</a:t>
            </a:r>
            <a:endParaRPr sz="1200"/>
          </a:p>
        </p:txBody>
      </p:sp>
      <p:sp>
        <p:nvSpPr>
          <p:cNvPr id="453" name="Google Shape;453;p39"/>
          <p:cNvSpPr/>
          <p:nvPr/>
        </p:nvSpPr>
        <p:spPr>
          <a:xfrm>
            <a:off x="311700" y="1962238"/>
            <a:ext cx="2771400" cy="5286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lang="en" sz="1238">
                <a:solidFill>
                  <a:schemeClr val="dk1"/>
                </a:solidFill>
              </a:rPr>
              <a:t>Q2. How appropriate is the research methodology?</a:t>
            </a:r>
            <a:endParaRPr sz="1684"/>
          </a:p>
        </p:txBody>
      </p:sp>
      <p:sp>
        <p:nvSpPr>
          <p:cNvPr id="454" name="Google Shape;454;p39"/>
          <p:cNvSpPr/>
          <p:nvPr/>
        </p:nvSpPr>
        <p:spPr>
          <a:xfrm>
            <a:off x="311700" y="2868425"/>
            <a:ext cx="2771400" cy="636000"/>
          </a:xfrm>
          <a:prstGeom prst="roundRect">
            <a:avLst>
              <a:gd fmla="val 16667" name="adj"/>
            </a:avLst>
          </a:prstGeom>
          <a:solidFill>
            <a:schemeClr val="lt1"/>
          </a:solidFill>
          <a:ln cap="flat" cmpd="sng" w="12150">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lnSpc>
                <a:spcPct val="115000"/>
              </a:lnSpc>
              <a:spcBef>
                <a:spcPts val="0"/>
              </a:spcBef>
              <a:spcAft>
                <a:spcPts val="0"/>
              </a:spcAft>
              <a:buNone/>
            </a:pPr>
            <a:r>
              <a:t/>
            </a:r>
            <a:endParaRPr sz="1300">
              <a:solidFill>
                <a:schemeClr val="dk1"/>
              </a:solidFill>
            </a:endParaRPr>
          </a:p>
          <a:p>
            <a:pPr indent="0" lvl="0" marL="0" rtl="0" algn="ctr">
              <a:lnSpc>
                <a:spcPct val="115000"/>
              </a:lnSpc>
              <a:spcBef>
                <a:spcPts val="0"/>
              </a:spcBef>
              <a:spcAft>
                <a:spcPts val="0"/>
              </a:spcAft>
              <a:buNone/>
            </a:pPr>
            <a:r>
              <a:rPr lang="en" sz="1200">
                <a:solidFill>
                  <a:schemeClr val="dk1"/>
                </a:solidFill>
              </a:rPr>
              <a:t>Q3. How valid is the result and interpretation?</a:t>
            </a:r>
            <a:endParaRPr sz="1200">
              <a:solidFill>
                <a:schemeClr val="dk1"/>
              </a:solidFill>
            </a:endParaRPr>
          </a:p>
          <a:p>
            <a:pPr indent="0" lvl="0" marL="0" rtl="0" algn="ctr">
              <a:spcBef>
                <a:spcPts val="0"/>
              </a:spcBef>
              <a:spcAft>
                <a:spcPts val="0"/>
              </a:spcAft>
              <a:buNone/>
            </a:pPr>
            <a:r>
              <a:t/>
            </a:r>
            <a:endParaRPr sz="1300"/>
          </a:p>
        </p:txBody>
      </p:sp>
      <p:sp>
        <p:nvSpPr>
          <p:cNvPr id="455" name="Google Shape;455;p39"/>
          <p:cNvSpPr/>
          <p:nvPr/>
        </p:nvSpPr>
        <p:spPr>
          <a:xfrm>
            <a:off x="311700" y="3882000"/>
            <a:ext cx="2771400" cy="528600"/>
          </a:xfrm>
          <a:prstGeom prst="roundRect">
            <a:avLst>
              <a:gd fmla="val 16667" name="adj"/>
            </a:avLst>
          </a:prstGeom>
          <a:solidFill>
            <a:srgbClr val="FFEF82"/>
          </a:solidFill>
          <a:ln cap="flat" cmpd="sng" w="28575">
            <a:solidFill>
              <a:schemeClr val="dk2"/>
            </a:solidFill>
            <a:prstDash val="solid"/>
            <a:round/>
            <a:headEnd len="sm" w="sm" type="none"/>
            <a:tailEnd len="sm" w="sm" type="none"/>
          </a:ln>
        </p:spPr>
        <p:txBody>
          <a:bodyPr anchorCtr="0" anchor="ctr" bIns="116550" lIns="116550" spcFirstLastPara="1" rIns="116550" wrap="square" tIns="116550">
            <a:noAutofit/>
          </a:bodyPr>
          <a:lstStyle/>
          <a:p>
            <a:pPr indent="0" lvl="0" marL="0" rtl="0" algn="ctr">
              <a:spcBef>
                <a:spcPts val="0"/>
              </a:spcBef>
              <a:spcAft>
                <a:spcPts val="0"/>
              </a:spcAft>
              <a:buNone/>
            </a:pPr>
            <a:r>
              <a:rPr b="1" lang="en" sz="1238">
                <a:solidFill>
                  <a:schemeClr val="dk1"/>
                </a:solidFill>
              </a:rPr>
              <a:t>Q4. How well does the paper present the research?</a:t>
            </a:r>
            <a:endParaRPr b="1" sz="1684"/>
          </a:p>
        </p:txBody>
      </p:sp>
      <p:grpSp>
        <p:nvGrpSpPr>
          <p:cNvPr id="456" name="Google Shape;456;p39"/>
          <p:cNvGrpSpPr/>
          <p:nvPr/>
        </p:nvGrpSpPr>
        <p:grpSpPr>
          <a:xfrm>
            <a:off x="3350650" y="245336"/>
            <a:ext cx="5292449" cy="930302"/>
            <a:chOff x="3366478" y="3055849"/>
            <a:chExt cx="2392500" cy="930302"/>
          </a:xfrm>
        </p:grpSpPr>
        <p:sp>
          <p:nvSpPr>
            <p:cNvPr id="457" name="Google Shape;457;p39"/>
            <p:cNvSpPr/>
            <p:nvPr/>
          </p:nvSpPr>
          <p:spPr>
            <a:xfrm>
              <a:off x="3366478" y="3350151"/>
              <a:ext cx="2392500" cy="636000"/>
            </a:xfrm>
            <a:prstGeom prst="rect">
              <a:avLst/>
            </a:prstGeom>
            <a:solidFill>
              <a:schemeClr val="lt2"/>
            </a:solidFill>
            <a:ln cap="flat" cmpd="sng" w="9000">
              <a:solidFill>
                <a:schemeClr val="dk2"/>
              </a:solidFill>
              <a:prstDash val="solid"/>
              <a:round/>
              <a:headEnd len="sm" w="sm" type="none"/>
              <a:tailEnd len="sm" w="sm" type="none"/>
            </a:ln>
          </p:spPr>
          <p:txBody>
            <a:bodyPr anchorCtr="0" anchor="t"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paper is clear and straightforward. Each pattern is explained using the same structure: problem, solution, model, and performance result. This makes the flow easy to follow.</a:t>
              </a:r>
              <a:endParaRPr sz="1100">
                <a:solidFill>
                  <a:schemeClr val="dk1"/>
                </a:solidFill>
              </a:endParaRPr>
            </a:p>
          </p:txBody>
        </p:sp>
        <p:sp>
          <p:nvSpPr>
            <p:cNvPr id="458" name="Google Shape;458;p39"/>
            <p:cNvSpPr/>
            <p:nvPr/>
          </p:nvSpPr>
          <p:spPr>
            <a:xfrm>
              <a:off x="3366478" y="3055849"/>
              <a:ext cx="2392500" cy="2943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Is it easy and fun to read to you?</a:t>
              </a:r>
              <a:endParaRPr b="1" sz="1128"/>
            </a:p>
          </p:txBody>
        </p:sp>
      </p:grpSp>
      <p:grpSp>
        <p:nvGrpSpPr>
          <p:cNvPr id="459" name="Google Shape;459;p39"/>
          <p:cNvGrpSpPr/>
          <p:nvPr/>
        </p:nvGrpSpPr>
        <p:grpSpPr>
          <a:xfrm>
            <a:off x="3350650" y="1381740"/>
            <a:ext cx="5292449" cy="926982"/>
            <a:chOff x="3366472" y="2511534"/>
            <a:chExt cx="2392500" cy="1256414"/>
          </a:xfrm>
        </p:grpSpPr>
        <p:sp>
          <p:nvSpPr>
            <p:cNvPr id="460" name="Google Shape;460;p39"/>
            <p:cNvSpPr/>
            <p:nvPr/>
          </p:nvSpPr>
          <p:spPr>
            <a:xfrm>
              <a:off x="3366472" y="2906048"/>
              <a:ext cx="2392500" cy="8619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paper is organized logically. It moves from background, to model creation, to experiments, then to results and discussion. Each section leads naturally into the next.</a:t>
              </a:r>
              <a:endParaRPr sz="1128">
                <a:solidFill>
                  <a:schemeClr val="dk1"/>
                </a:solidFill>
              </a:endParaRPr>
            </a:p>
          </p:txBody>
        </p:sp>
        <p:sp>
          <p:nvSpPr>
            <p:cNvPr id="461" name="Google Shape;461;p39"/>
            <p:cNvSpPr/>
            <p:nvPr/>
          </p:nvSpPr>
          <p:spPr>
            <a:xfrm>
              <a:off x="3366472" y="2511534"/>
              <a:ext cx="2392500" cy="3945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Are the sections well-organized?</a:t>
              </a:r>
              <a:endParaRPr b="1" sz="1128"/>
            </a:p>
          </p:txBody>
        </p:sp>
      </p:grpSp>
      <p:grpSp>
        <p:nvGrpSpPr>
          <p:cNvPr id="462" name="Google Shape;462;p39"/>
          <p:cNvGrpSpPr/>
          <p:nvPr/>
        </p:nvGrpSpPr>
        <p:grpSpPr>
          <a:xfrm>
            <a:off x="3358075" y="3494949"/>
            <a:ext cx="5277600" cy="1121663"/>
            <a:chOff x="3358975" y="3665007"/>
            <a:chExt cx="5277600" cy="1194529"/>
          </a:xfrm>
        </p:grpSpPr>
        <p:sp>
          <p:nvSpPr>
            <p:cNvPr id="463" name="Google Shape;463;p39"/>
            <p:cNvSpPr/>
            <p:nvPr/>
          </p:nvSpPr>
          <p:spPr>
            <a:xfrm>
              <a:off x="3358975" y="4122436"/>
              <a:ext cx="5277600" cy="7371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The visuals are essential. Without them, understanding the mapping between the design pattern and its performance behavior would be difficult. The figures help the reader see how the bottlenecks form.</a:t>
              </a:r>
              <a:endParaRPr sz="1100">
                <a:solidFill>
                  <a:schemeClr val="dk1"/>
                </a:solidFill>
              </a:endParaRPr>
            </a:p>
          </p:txBody>
        </p:sp>
        <p:sp>
          <p:nvSpPr>
            <p:cNvPr id="464" name="Google Shape;464;p39"/>
            <p:cNvSpPr/>
            <p:nvPr/>
          </p:nvSpPr>
          <p:spPr>
            <a:xfrm>
              <a:off x="3358975" y="3665007"/>
              <a:ext cx="5277600" cy="4575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 the figures and tables appear necessary and add value to the overall presentation of the paper?</a:t>
              </a:r>
              <a:endParaRPr b="1" sz="1128"/>
            </a:p>
          </p:txBody>
        </p:sp>
      </p:grpSp>
      <p:grpSp>
        <p:nvGrpSpPr>
          <p:cNvPr id="465" name="Google Shape;465;p39"/>
          <p:cNvGrpSpPr/>
          <p:nvPr/>
        </p:nvGrpSpPr>
        <p:grpSpPr>
          <a:xfrm>
            <a:off x="3350650" y="2470040"/>
            <a:ext cx="5292449" cy="863679"/>
            <a:chOff x="3366472" y="2511534"/>
            <a:chExt cx="2392500" cy="1170614"/>
          </a:xfrm>
        </p:grpSpPr>
        <p:sp>
          <p:nvSpPr>
            <p:cNvPr id="466" name="Google Shape;466;p39"/>
            <p:cNvSpPr/>
            <p:nvPr/>
          </p:nvSpPr>
          <p:spPr>
            <a:xfrm>
              <a:off x="3366472" y="2906048"/>
              <a:ext cx="2392500" cy="776100"/>
            </a:xfrm>
            <a:prstGeom prst="rect">
              <a:avLst/>
            </a:prstGeom>
            <a:solidFill>
              <a:schemeClr val="lt2"/>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l">
                <a:spcBef>
                  <a:spcPts val="0"/>
                </a:spcBef>
                <a:spcAft>
                  <a:spcPts val="0"/>
                </a:spcAft>
                <a:buNone/>
              </a:pPr>
              <a:r>
                <a:rPr lang="en" sz="1100">
                  <a:solidFill>
                    <a:schemeClr val="dk1"/>
                  </a:solidFill>
                </a:rPr>
                <a:t>Yes. Figures show the architecture of each pattern and how it maps to the performance model. Tables list model parameters used in the simulations. Both make the concepts clearer.</a:t>
              </a:r>
              <a:endParaRPr sz="1128">
                <a:solidFill>
                  <a:schemeClr val="dk1"/>
                </a:solidFill>
              </a:endParaRPr>
            </a:p>
          </p:txBody>
        </p:sp>
        <p:sp>
          <p:nvSpPr>
            <p:cNvPr id="467" name="Google Shape;467;p39"/>
            <p:cNvSpPr/>
            <p:nvPr/>
          </p:nvSpPr>
          <p:spPr>
            <a:xfrm>
              <a:off x="3366472" y="2511534"/>
              <a:ext cx="2392500" cy="394500"/>
            </a:xfrm>
            <a:prstGeom prst="rect">
              <a:avLst/>
            </a:prstGeom>
            <a:solidFill>
              <a:srgbClr val="FFD966"/>
            </a:solidFill>
            <a:ln cap="flat" cmpd="sng" w="9000">
              <a:solidFill>
                <a:schemeClr val="dk2"/>
              </a:solidFill>
              <a:prstDash val="solid"/>
              <a:round/>
              <a:headEnd len="sm" w="sm" type="none"/>
              <a:tailEnd len="sm" w="sm" type="none"/>
            </a:ln>
          </p:spPr>
          <p:txBody>
            <a:bodyPr anchorCtr="0" anchor="ctr" bIns="86425" lIns="86425" spcFirstLastPara="1" rIns="86425" wrap="square" tIns="86425">
              <a:noAutofit/>
            </a:bodyPr>
            <a:lstStyle/>
            <a:p>
              <a:pPr indent="0" lvl="0" marL="0" rtl="0" algn="ctr">
                <a:spcBef>
                  <a:spcPts val="0"/>
                </a:spcBef>
                <a:spcAft>
                  <a:spcPts val="0"/>
                </a:spcAft>
                <a:buNone/>
              </a:pPr>
              <a:r>
                <a:rPr b="1" lang="en" sz="1128"/>
                <a:t>Do the figures and tables clearly demonstrate the contents?</a:t>
              </a:r>
              <a:endParaRPr b="1" sz="1128"/>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b="1" lang="en" sz="1100">
                <a:solidFill>
                  <a:schemeClr val="dk1"/>
                </a:solidFill>
              </a:rPr>
              <a:t>Conclusion</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This paper transforms design patterns from intuition-based decisions into quantifiable, performance-driven choices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Queueing-network modeling proves to be a powerful abstraction for most microservice patterns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Performance is not static — it shifts with workload composition and bottleneck migration</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Key Takeaways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Design patterns are not universally beneficial; context and workload matter</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Model-based analysis enables early detection of performance risks, before deployment</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Gateway Offloading can introduce performance degradation, challenging common assumptions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Formal performance modeling empowers architects to design systems based on evidence, not guesswork</a:t>
            </a:r>
            <a:endParaRPr b="1">
              <a:solidFill>
                <a:schemeClr val="dk1"/>
              </a:solidFill>
              <a:latin typeface="Impact"/>
              <a:ea typeface="Impact"/>
              <a:cs typeface="Impact"/>
              <a:sym typeface="Impact"/>
            </a:endParaRPr>
          </a:p>
        </p:txBody>
      </p:sp>
      <p:sp>
        <p:nvSpPr>
          <p:cNvPr id="473" name="Google Shape;473;p40"/>
          <p:cNvSpPr txBox="1"/>
          <p:nvPr>
            <p:ph type="title"/>
          </p:nvPr>
        </p:nvSpPr>
        <p:spPr>
          <a:xfrm>
            <a:off x="311700" y="320350"/>
            <a:ext cx="8520600" cy="531600"/>
          </a:xfrm>
          <a:prstGeom prst="rect">
            <a:avLst/>
          </a:prstGeom>
          <a:solidFill>
            <a:srgbClr val="FFD966"/>
          </a:solidFill>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61111"/>
              <a:buFont typeface="Arial"/>
              <a:buNone/>
            </a:pPr>
            <a:r>
              <a:rPr b="1" lang="en" sz="1800">
                <a:latin typeface="Impact"/>
                <a:ea typeface="Impact"/>
                <a:cs typeface="Impact"/>
                <a:sym typeface="Impact"/>
              </a:rPr>
              <a:t>Conclusion and Takeaways</a:t>
            </a:r>
            <a:endParaRPr/>
          </a:p>
          <a:p>
            <a:pPr indent="0" lvl="0" marL="0" rtl="0" algn="l">
              <a:lnSpc>
                <a:spcPct val="115000"/>
              </a:lnSpc>
              <a:spcBef>
                <a:spcPts val="1200"/>
              </a:spcBef>
              <a:spcAft>
                <a:spcPts val="1200"/>
              </a:spcAft>
              <a:buClr>
                <a:schemeClr val="dk1"/>
              </a:buClr>
              <a:buSzPct val="61111"/>
              <a:buFont typeface="Arial"/>
              <a:buNone/>
            </a:pPr>
            <a:r>
              <a:t/>
            </a:r>
            <a:endParaRPr b="1" sz="1800">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